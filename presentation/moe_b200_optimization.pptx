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12188952" cy="2194560"/>
          </a:xfrm>
          <a:prstGeom prst="rect">
            <a:avLst/>
          </a:prstGeom>
          <a:solidFill>
            <a:srgbClr val="13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88952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0"/>
            <a:ext cx="12188952" cy="36576"/>
          </a:xfrm>
          <a:prstGeom prst="rect">
            <a:avLst/>
          </a:prstGeom>
          <a:solidFill>
            <a:srgbClr val="76FF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514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</a:rPr>
              <a:t>Optimizing MoE FP8 Kernels for NVIDIA B200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83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0E5FF"/>
                </a:solidFill>
              </a:rPr>
              <a:t>MLSys'26 Contest · FlashInfer-Bench Track · Submission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0" y="3931920"/>
            <a:ext cx="6309360" cy="420624"/>
          </a:xfrm>
          <a:prstGeom prst="rect">
            <a:avLst/>
          </a:prstGeom>
          <a:solidFill>
            <a:srgbClr val="00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0" y="3950208"/>
            <a:ext cx="6309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00E5FF"/>
                </a:solidFill>
              </a:rPr>
              <a:t>moe_fp8_block_scale_ds_routing_topk8_ng8_kg4_e32_h7168_i2048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9BAE"/>
                </a:solidFill>
              </a:rPr>
              <a:t>NVIDIA B200 (Blackwell) · SM 10.0 · HBM3e 8 TB/s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309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9BAE"/>
                </a:solidFill>
              </a:rPr>
              <a:t>humming-bird  ·  April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0" y="2606040"/>
            <a:ext cx="1920240" cy="502920"/>
          </a:xfrm>
          <a:prstGeom prst="rect">
            <a:avLst/>
          </a:prstGeom>
          <a:solidFill>
            <a:srgbClr val="00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22408" y="2606040"/>
            <a:ext cx="1828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A9BAE"/>
                </a:solidFill>
              </a:rPr>
              <a:t>Peak Speedup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22408" y="2834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76FF03"/>
                </a:solidFill>
              </a:rPr>
              <a:t>7.4×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00" y="3246120"/>
            <a:ext cx="1920240" cy="502920"/>
          </a:xfrm>
          <a:prstGeom prst="rect">
            <a:avLst/>
          </a:prstGeom>
          <a:solidFill>
            <a:srgbClr val="00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22408" y="3246120"/>
            <a:ext cx="1828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A9BAE"/>
                </a:solidFill>
              </a:rPr>
              <a:t>Avg Speedup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22408" y="3474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76FF03"/>
                </a:solidFill>
              </a:rPr>
              <a:t>~2.1×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0" y="3886200"/>
            <a:ext cx="1920240" cy="502920"/>
          </a:xfrm>
          <a:prstGeom prst="rect">
            <a:avLst/>
          </a:prstGeom>
          <a:solidFill>
            <a:srgbClr val="00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22408" y="3886200"/>
            <a:ext cx="1828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A9BAE"/>
                </a:solidFill>
              </a:rPr>
              <a:t>Workloads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22408" y="4114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76FF03"/>
                </a:solidFill>
              </a:rPr>
              <a:t>19 / 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6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9728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E5FF"/>
                </a:solidFill>
              </a:rPr>
              <a:t>Mixture-of-Experts Inference at Scale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5486400" cy="5212080"/>
          </a:xfrm>
          <a:prstGeom prst="rect">
            <a:avLst/>
          </a:prstGeom>
          <a:solidFill>
            <a:srgbClr val="16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E5FF"/>
                </a:solidFill>
              </a:rPr>
              <a:t>What is Mixture-of-Experts?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E5FF"/>
                </a:solidFill>
              </a:rPr>
              <a:t>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28800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Each token is routed to K=8 experts out of 256 total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447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E5FF"/>
                </a:solidFill>
              </a:rPr>
              <a:t>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44700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Only 32 experts exist locally (others on other GPUs)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2606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E5FF"/>
                </a:solidFill>
              </a:rPr>
              <a:t>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260600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Each expert: 2 GEMMs (gate+up proj, down proj)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4765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E5FF"/>
                </a:solidFill>
              </a:rPr>
              <a:t>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476500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Weights stored in FP8 with 128-element block scales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6924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E5FF"/>
                </a:solidFill>
              </a:rPr>
              <a:t>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692400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Output accumulated in FP32, cast to BF16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9083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E5FF"/>
                </a:solidFill>
              </a:rPr>
              <a:t>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2908300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1242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E5FF"/>
                </a:solidFill>
              </a:rPr>
              <a:t>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124200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Scale: DeepSeek-V3 style — H=7168, I=2048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3401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E5FF"/>
                </a:solidFill>
              </a:rPr>
              <a:t>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340100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32 local experts × 2 × GEMM = 64 matrix multiplications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5560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E5FF"/>
                </a:solidFill>
              </a:rPr>
              <a:t>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3556000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With T=14107 tokens: billions of FLOPs per forward pass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40" y="1280160"/>
            <a:ext cx="5852160" cy="5212080"/>
          </a:xfrm>
          <a:prstGeom prst="rect">
            <a:avLst/>
          </a:prstGeom>
          <a:solidFill>
            <a:srgbClr val="16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6D00"/>
                </a:solidFill>
              </a:rPr>
              <a:t>Optimization Challenges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18288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E5FF"/>
                </a:solidFill>
              </a:rPr>
              <a:t>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1828800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6D00"/>
                </a:solidFill>
              </a:rPr>
              <a:t>Non-uniform batch sizes per expert (Tk ∈ [0, T×8/32])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20447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E5FF"/>
                </a:solidFill>
              </a:rPr>
              <a:t>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2044700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6D00"/>
                </a:solidFill>
              </a:rPr>
              <a:t>FP8 weights need dequant before compute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22606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E5FF"/>
                </a:solidFill>
              </a:rPr>
              <a:t>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2260600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6D00"/>
                </a:solidFill>
              </a:rPr>
              <a:t>Sequential expert loop = 32× kernel launch overhead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24765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E5FF"/>
                </a:solidFill>
              </a:rPr>
              <a:t>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2476500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6D00"/>
                </a:solidFill>
              </a:rPr>
              <a:t>3.5 GB FP32 weight materialization per forward pass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26924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E5FF"/>
                </a:solidFill>
              </a:rPr>
              <a:t>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2692400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6D00"/>
                </a:solidFill>
              </a:rPr>
              <a:t>SwiGLU activation between GEMM1 and GEMM2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29083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E5FF"/>
                </a:solidFill>
              </a:rPr>
              <a:t>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2908300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6D00"/>
                </a:solidFill>
              </a:rPr>
              <a:t/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31242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E5FF"/>
                </a:solidFill>
              </a:rPr>
              <a:t>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3124200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6D00"/>
                </a:solidFill>
              </a:rPr>
              <a:t>Memory wall: 112 MB/expert FP32 vs 28 MB FP8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33401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E5FF"/>
                </a:solidFill>
              </a:rPr>
              <a:t>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3340100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6D00"/>
                </a:solidFill>
              </a:rPr>
              <a:t>Small-T dominated by launch latency, not compute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0" y="35560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E5FF"/>
                </a:solidFill>
              </a:rPr>
              <a:t>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3556000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6D00"/>
                </a:solidFill>
              </a:rPr>
              <a:t>Large-T is memory-bandwidth bound (8 TB/s HBM3e)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6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9728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Target Hardware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E5FF"/>
                </a:solidFill>
              </a:rPr>
              <a:t>NVIDIA B200 · Blackwell Architecture · SM 10.0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3749039" cy="914400"/>
          </a:xfrm>
          <a:prstGeom prst="rect">
            <a:avLst/>
          </a:prstGeom>
          <a:solidFill>
            <a:srgbClr val="0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435608"/>
            <a:ext cx="3566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9BAE"/>
                </a:solidFill>
              </a:rPr>
              <a:t>Streaming Multiprocessors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755648"/>
            <a:ext cx="35661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0E5FF"/>
                </a:solidFill>
              </a:rPr>
              <a:t>160 SMs</a:t>
            </a:r>
          </a:p>
        </p:txBody>
      </p:sp>
      <p:sp>
        <p:nvSpPr>
          <p:cNvPr id="9" name="Rectangle 8"/>
          <p:cNvSpPr/>
          <p:nvPr/>
        </p:nvSpPr>
        <p:spPr>
          <a:xfrm>
            <a:off x="4133087" y="1371600"/>
            <a:ext cx="3749039" cy="914400"/>
          </a:xfrm>
          <a:prstGeom prst="rect">
            <a:avLst/>
          </a:prstGeom>
          <a:solidFill>
            <a:srgbClr val="16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42815" y="1435608"/>
            <a:ext cx="3566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9BAE"/>
                </a:solidFill>
              </a:rPr>
              <a:t>Shared Memory / 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42815" y="1755648"/>
            <a:ext cx="35661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0E5FF"/>
                </a:solidFill>
              </a:rPr>
              <a:t>228 KB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91854" y="1371600"/>
            <a:ext cx="3749039" cy="914400"/>
          </a:xfrm>
          <a:prstGeom prst="rect">
            <a:avLst/>
          </a:prstGeom>
          <a:solidFill>
            <a:srgbClr val="16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01582" y="1435608"/>
            <a:ext cx="3566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9BAE"/>
                </a:solidFill>
              </a:rPr>
              <a:t>Registers / Thread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01582" y="1755648"/>
            <a:ext cx="35661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0E5FF"/>
                </a:solidFill>
              </a:rPr>
              <a:t>255 (32-bit)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395728"/>
            <a:ext cx="3749039" cy="914400"/>
          </a:xfrm>
          <a:prstGeom prst="rect">
            <a:avLst/>
          </a:prstGeom>
          <a:solidFill>
            <a:srgbClr val="0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2459736"/>
            <a:ext cx="3566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9BAE"/>
                </a:solidFill>
              </a:rPr>
              <a:t>L2 Cache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2779776"/>
            <a:ext cx="35661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0E5FF"/>
                </a:solidFill>
              </a:rPr>
              <a:t>126 MB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33087" y="2395728"/>
            <a:ext cx="3749039" cy="914400"/>
          </a:xfrm>
          <a:prstGeom prst="rect">
            <a:avLst/>
          </a:prstGeom>
          <a:solidFill>
            <a:srgbClr val="16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42815" y="2459736"/>
            <a:ext cx="3566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9BAE"/>
                </a:solidFill>
              </a:rPr>
              <a:t>HBM3e Bandwidth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42815" y="2779776"/>
            <a:ext cx="35661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0E5FF"/>
                </a:solidFill>
              </a:rPr>
              <a:t>8 TB/s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91854" y="2395728"/>
            <a:ext cx="3749039" cy="914400"/>
          </a:xfrm>
          <a:prstGeom prst="rect">
            <a:avLst/>
          </a:prstGeom>
          <a:solidFill>
            <a:srgbClr val="16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01582" y="2459736"/>
            <a:ext cx="3566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9BAE"/>
                </a:solidFill>
              </a:rPr>
              <a:t>FP8 Tensor Core TFLOPS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01582" y="2779776"/>
            <a:ext cx="35661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0E5FF"/>
                </a:solidFill>
              </a:rPr>
              <a:t>~4,500 TFLOPS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419856"/>
            <a:ext cx="3749039" cy="914400"/>
          </a:xfrm>
          <a:prstGeom prst="rect">
            <a:avLst/>
          </a:prstGeom>
          <a:solidFill>
            <a:srgbClr val="0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" y="3483864"/>
            <a:ext cx="3566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9BAE"/>
                </a:solidFill>
              </a:rPr>
              <a:t>BF16 Tensor Core TFLOPS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" y="3803904"/>
            <a:ext cx="35661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0E5FF"/>
                </a:solidFill>
              </a:rPr>
              <a:t>~2,250 TFLOPS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33087" y="3419856"/>
            <a:ext cx="3749039" cy="914400"/>
          </a:xfrm>
          <a:prstGeom prst="rect">
            <a:avLst/>
          </a:prstGeom>
          <a:solidFill>
            <a:srgbClr val="16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42815" y="3483864"/>
            <a:ext cx="3566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9BAE"/>
                </a:solidFill>
              </a:rPr>
              <a:t>TF32 Tensor Core TFLOPS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42815" y="3803904"/>
            <a:ext cx="35661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0E5FF"/>
                </a:solidFill>
              </a:rPr>
              <a:t>~1,125 TFLOPS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91854" y="3419856"/>
            <a:ext cx="3749039" cy="914400"/>
          </a:xfrm>
          <a:prstGeom prst="rect">
            <a:avLst/>
          </a:prstGeom>
          <a:solidFill>
            <a:srgbClr val="16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01582" y="3483864"/>
            <a:ext cx="3566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9BAE"/>
                </a:solidFill>
              </a:rPr>
              <a:t>FP32 CUDA Core TFLOPS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01582" y="3803904"/>
            <a:ext cx="35661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0E5FF"/>
                </a:solidFill>
              </a:rPr>
              <a:t>~90 TFLOPS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4709160"/>
            <a:ext cx="11612880" cy="1828800"/>
          </a:xfrm>
          <a:prstGeom prst="rect">
            <a:avLst/>
          </a:prstGeom>
          <a:solidFill>
            <a:srgbClr val="00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74320" y="4709160"/>
            <a:ext cx="54864" cy="1828800"/>
          </a:xfrm>
          <a:prstGeom prst="rect">
            <a:avLst/>
          </a:prstGeom>
          <a:solidFill>
            <a:srgbClr val="76FF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477316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6FF03"/>
                </a:solidFill>
              </a:rPr>
              <a:t>KEY INSIGHT FOR KERNEL DESIGN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5102352"/>
            <a:ext cx="111556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FP8 E4M3 (4 mantissa bits) → BF16 (8 mantissa bits) is a LOSSLESS upcast. Load FP8 weights directly into tensor cores with BF16 accumulation = 4× less memory bandwidth + 2× higher TFLOPS than TF32 baseline. Apply block scales post-dot in FP32 for zero precision loss.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6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9728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MoE Forward Pass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E5FF"/>
                </a:solidFill>
              </a:rPr>
              <a:t>DeepSeek-V3 Style · FP8 Block-Scale Quantization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2356" y="1828800"/>
            <a:ext cx="1737360" cy="1280160"/>
          </a:xfrm>
          <a:prstGeom prst="rect">
            <a:avLst/>
          </a:prstGeom>
          <a:solidFill>
            <a:srgbClr val="16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2356" y="1828800"/>
            <a:ext cx="1737360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" y="19202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E5FF"/>
                </a:solidFill>
              </a:rPr>
              <a:t>Routing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" y="2304288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sigmoid + group
top-2/4/8 + normalize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08276" y="2331720"/>
            <a:ext cx="310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8A9BAE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7732" y="1828800"/>
            <a:ext cx="1737360" cy="1280160"/>
          </a:xfrm>
          <a:prstGeom prst="rect">
            <a:avLst/>
          </a:prstGeom>
          <a:solidFill>
            <a:srgbClr val="16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27732" y="1828800"/>
            <a:ext cx="1737360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19172" y="19202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E5FF"/>
                </a:solidFill>
              </a:rPr>
              <a:t>Dispatch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9172" y="2304288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nonzero → argsort
→ unique_consecutive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73652" y="2331720"/>
            <a:ext cx="310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8A9BAE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3108" y="1828800"/>
            <a:ext cx="1737360" cy="1280160"/>
          </a:xfrm>
          <a:prstGeom prst="rect">
            <a:avLst/>
          </a:prstGeom>
          <a:solidFill>
            <a:srgbClr val="16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3108" y="1828800"/>
            <a:ext cx="1737360" cy="45720"/>
          </a:xfrm>
          <a:prstGeom prst="rect">
            <a:avLst/>
          </a:prstGeom>
          <a:solidFill>
            <a:srgbClr val="76FF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4548" y="19202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6FF03"/>
                </a:solidFill>
              </a:rPr>
              <a:t>FP8 Gather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4548" y="2304288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bulk index_select
all experts at once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39028" y="2331720"/>
            <a:ext cx="310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8A9BAE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58484" y="1828800"/>
            <a:ext cx="1737360" cy="1280160"/>
          </a:xfrm>
          <a:prstGeom prst="rect">
            <a:avLst/>
          </a:prstGeom>
          <a:solidFill>
            <a:srgbClr val="16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58484" y="1828800"/>
            <a:ext cx="1737360" cy="4572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49924" y="19202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6D00"/>
                </a:solidFill>
              </a:rPr>
              <a:t>GEMM1 + SwiGLU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49924" y="2304288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FP8→BF16 tile cast
gated MLP up-proj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04404" y="2331720"/>
            <a:ext cx="310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8A9BAE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23860" y="1828800"/>
            <a:ext cx="1737360" cy="1280160"/>
          </a:xfrm>
          <a:prstGeom prst="rect">
            <a:avLst/>
          </a:prstGeom>
          <a:solidFill>
            <a:srgbClr val="16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23860" y="1828800"/>
            <a:ext cx="1737360" cy="4572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15300" y="19202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6D00"/>
                </a:solidFill>
              </a:rPr>
              <a:t>GEMM2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15300" y="2304288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down-proj + scale
routing weight fused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69780" y="2331720"/>
            <a:ext cx="310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8A9BAE"/>
                </a:solidFill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889236" y="1828800"/>
            <a:ext cx="1737360" cy="1280160"/>
          </a:xfrm>
          <a:prstGeom prst="rect">
            <a:avLst/>
          </a:prstGeom>
          <a:solidFill>
            <a:srgbClr val="16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889236" y="1828800"/>
            <a:ext cx="1737360" cy="45720"/>
          </a:xfrm>
          <a:prstGeom prst="rect">
            <a:avLst/>
          </a:prstGeom>
          <a:solidFill>
            <a:srgbClr val="76FF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80676" y="19202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6FF03"/>
                </a:solidFill>
              </a:rPr>
              <a:t>Scatter-Add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80676" y="2304288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index_add_ accum
FP32 → BF16 out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383280"/>
            <a:ext cx="11612880" cy="3200400"/>
          </a:xfrm>
          <a:prstGeom prst="rect">
            <a:avLst/>
          </a:prstGeom>
          <a:solidFill>
            <a:srgbClr val="16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345643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E5FF"/>
                </a:solidFill>
              </a:rPr>
              <a:t>Problem Parameters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384048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A9BAE"/>
                </a:solidFill>
              </a:rPr>
              <a:t>Hidden Size (H)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409651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</a:rPr>
              <a:t>7,168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37560" y="384048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A9BAE"/>
                </a:solidFill>
              </a:rPr>
              <a:t>Intermediate (I)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37560" y="409651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</a:rPr>
              <a:t>2,048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0" y="384048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A9BAE"/>
                </a:solidFill>
              </a:rPr>
              <a:t>Total Experts (E)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409651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</a:rPr>
              <a:t>256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98280" y="384048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A9BAE"/>
                </a:solidFill>
              </a:rPr>
              <a:t>Local Experts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98280" y="409651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</a:rPr>
              <a:t>32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66344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A9BAE"/>
                </a:solidFill>
              </a:rPr>
              <a:t>Top-K Selected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491947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</a:rPr>
              <a:t>8 (per token)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37560" y="466344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A9BAE"/>
                </a:solidFill>
              </a:rPr>
              <a:t>N Groups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37560" y="491947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7920" y="466344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A9BAE"/>
                </a:solidFill>
              </a:rPr>
              <a:t>TopK Groups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17920" y="491947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98280" y="466344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A9BAE"/>
                </a:solidFill>
              </a:rPr>
              <a:t>Block Size Q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98280" y="491947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</a:rPr>
              <a:t>128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548640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A9BAE"/>
                </a:solidFill>
              </a:rPr>
              <a:t>Input dtype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574243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</a:rPr>
              <a:t>FP8 E4M3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37560" y="548640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A9BAE"/>
                </a:solidFill>
              </a:rPr>
              <a:t>Weights dtype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37560" y="574243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</a:rPr>
              <a:t>FP8 E4M3 + block scales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17920" y="548640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A9BAE"/>
                </a:solidFill>
              </a:rPr>
              <a:t>Output dtype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17920" y="574243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</a:rPr>
              <a:t>BF16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098280" y="548640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A9BAE"/>
                </a:solidFill>
              </a:rPr>
              <a:t>Sequence range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98280" y="574243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</a:rPr>
              <a:t>1 – 14,107 tokens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6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9728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Benchmark Workloads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E5FF"/>
                </a:solidFill>
              </a:rPr>
              <a:t>19 workloads — sequence lengths 1 to 14,107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23444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9BAE"/>
                </a:solidFill>
              </a:rPr>
              <a:t>Each workload is a single forward pass with different T (token count). The reference implementation uses plain PyTorch; we must beat it on B200.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0" y="1645920"/>
            <a:ext cx="550" cy="246888"/>
          </a:xfrm>
          <a:prstGeom prst="rect">
            <a:avLst/>
          </a:prstGeom>
          <a:solidFill>
            <a:srgbClr val="00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645920"/>
            <a:ext cx="1325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T=1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1645920"/>
            <a:ext cx="2286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A9BAE"/>
                </a:solidFill>
              </a:rPr>
              <a:t>ref=10.8 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0" y="1929384"/>
            <a:ext cx="3856" cy="246888"/>
          </a:xfrm>
          <a:prstGeom prst="rect">
            <a:avLst/>
          </a:prstGeom>
          <a:solidFill>
            <a:srgbClr val="00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929384"/>
            <a:ext cx="1325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T=7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1929384"/>
            <a:ext cx="2286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A9BAE"/>
                </a:solidFill>
              </a:rPr>
              <a:t>ref=11.4 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45920" y="2212848"/>
            <a:ext cx="7713" cy="246888"/>
          </a:xfrm>
          <a:prstGeom prst="rect">
            <a:avLst/>
          </a:prstGeom>
          <a:solidFill>
            <a:srgbClr val="00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2212848"/>
            <a:ext cx="1325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T=14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2212848"/>
            <a:ext cx="2286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A9BAE"/>
                </a:solidFill>
              </a:rPr>
              <a:t>ref=12.2 ms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45920" y="2496312"/>
            <a:ext cx="8264" cy="246888"/>
          </a:xfrm>
          <a:prstGeom prst="rect">
            <a:avLst/>
          </a:prstGeom>
          <a:solidFill>
            <a:srgbClr val="00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2496312"/>
            <a:ext cx="1325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T=15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2496312"/>
            <a:ext cx="2286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A9BAE"/>
                </a:solidFill>
              </a:rPr>
              <a:t>ref=11.4 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45920" y="2779776"/>
            <a:ext cx="8815" cy="24688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2779776"/>
            <a:ext cx="1325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T=16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2779776"/>
            <a:ext cx="2286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A9BAE"/>
                </a:solidFill>
              </a:rPr>
              <a:t>ref=12.6 ms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45920" y="3063240"/>
            <a:ext cx="17630" cy="24688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3063240"/>
            <a:ext cx="1325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T=32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3063240"/>
            <a:ext cx="2286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A9BAE"/>
                </a:solidFill>
              </a:rPr>
              <a:t>ref=13.8 ms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45920" y="3346704"/>
            <a:ext cx="28649" cy="24688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3346704"/>
            <a:ext cx="1325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T=52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3346704"/>
            <a:ext cx="2286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A9BAE"/>
                </a:solidFill>
              </a:rPr>
              <a:t>ref=13.2 ms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645920" y="3630168"/>
            <a:ext cx="29200" cy="24688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3630168"/>
            <a:ext cx="1325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T=53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3630168"/>
            <a:ext cx="2286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A9BAE"/>
                </a:solidFill>
              </a:rPr>
              <a:t>ref=14.6 ms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645920" y="3913632"/>
            <a:ext cx="29751" cy="24688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3913632"/>
            <a:ext cx="1325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T=54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0" y="3913632"/>
            <a:ext cx="2286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A9BAE"/>
                </a:solidFill>
              </a:rPr>
              <a:t>ref=14.2 ms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645920" y="4197096"/>
            <a:ext cx="30302" cy="24688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" y="4197096"/>
            <a:ext cx="1325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T=55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0" y="4197096"/>
            <a:ext cx="2286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A9BAE"/>
                </a:solidFill>
              </a:rPr>
              <a:t>ref=14.5 ms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645920" y="4480560"/>
            <a:ext cx="30853" cy="24688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" y="4480560"/>
            <a:ext cx="1325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T=56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0" y="4480560"/>
            <a:ext cx="2286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A9BAE"/>
                </a:solidFill>
              </a:rPr>
              <a:t>ref=15.0 ms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645920" y="4764024"/>
            <a:ext cx="31404" cy="24688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4320" y="4764024"/>
            <a:ext cx="1325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T=57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0" y="4764024"/>
            <a:ext cx="2286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A9BAE"/>
                </a:solidFill>
              </a:rPr>
              <a:t>ref=14.9 ms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645920" y="5047488"/>
            <a:ext cx="31955" cy="24688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4320" y="5047488"/>
            <a:ext cx="1325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T=58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01200" y="5047488"/>
            <a:ext cx="2286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A9BAE"/>
                </a:solidFill>
              </a:rPr>
              <a:t>ref=15.4 ms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645920" y="5330952"/>
            <a:ext cx="32506" cy="24688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4320" y="5330952"/>
            <a:ext cx="1325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T=59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01200" y="5330952"/>
            <a:ext cx="2286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A9BAE"/>
                </a:solidFill>
              </a:rPr>
              <a:t>ref=13.5 ms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645920" y="5614416"/>
            <a:ext cx="34159" cy="24688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4320" y="5614416"/>
            <a:ext cx="1325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T=62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01200" y="5614416"/>
            <a:ext cx="2286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A9BAE"/>
                </a:solidFill>
              </a:rPr>
              <a:t>ref=13.7 ms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645920" y="5897880"/>
            <a:ext cx="44076" cy="24688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5897880"/>
            <a:ext cx="1325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T=80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01200" y="5897880"/>
            <a:ext cx="2286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A9BAE"/>
                </a:solidFill>
              </a:rPr>
              <a:t>ref=16.0 ms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645920" y="6181344"/>
            <a:ext cx="496415" cy="246888"/>
          </a:xfrm>
          <a:prstGeom prst="rect">
            <a:avLst/>
          </a:prstGeom>
          <a:solidFill>
            <a:srgbClr val="76FF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74320" y="6181344"/>
            <a:ext cx="1325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T=901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01200" y="6181344"/>
            <a:ext cx="2286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A9BAE"/>
                </a:solidFill>
              </a:rPr>
              <a:t>ref=20.9 ms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645920" y="6464808"/>
            <a:ext cx="6582876" cy="246888"/>
          </a:xfrm>
          <a:prstGeom prst="rect">
            <a:avLst/>
          </a:prstGeom>
          <a:solidFill>
            <a:srgbClr val="76FF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74320" y="6464808"/>
            <a:ext cx="1325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T=11948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601200" y="6464808"/>
            <a:ext cx="2286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A9BAE"/>
                </a:solidFill>
              </a:rPr>
              <a:t>ref=35.7 ms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645920" y="6748272"/>
            <a:ext cx="7772400" cy="246888"/>
          </a:xfrm>
          <a:prstGeom prst="rect">
            <a:avLst/>
          </a:prstGeom>
          <a:solidFill>
            <a:srgbClr val="76FF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74320" y="6748272"/>
            <a:ext cx="1325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T=14107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601200" y="6748272"/>
            <a:ext cx="2286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A9BAE"/>
                </a:solidFill>
              </a:rPr>
              <a:t>ref=45.4 ms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74320" y="6556248"/>
            <a:ext cx="201168" cy="201168"/>
          </a:xfrm>
          <a:prstGeom prst="rect">
            <a:avLst/>
          </a:prstGeom>
          <a:solidFill>
            <a:srgbClr val="00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8640" y="649224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T ≤ 15 (small / decode)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206240" y="6556248"/>
            <a:ext cx="201168" cy="20116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480560" y="649224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T 16–100 (medium / batched)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138160" y="6556248"/>
            <a:ext cx="201168" cy="201168"/>
          </a:xfrm>
          <a:prstGeom prst="rect">
            <a:avLst/>
          </a:prstGeom>
          <a:solidFill>
            <a:srgbClr val="76FF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412480" y="649224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T &gt; 100 (large / prefill)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6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9728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Sub-1: Baseline Correctness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E5FF"/>
                </a:solidFill>
              </a:rPr>
              <a:t>Get the math right before optimizing · 19/19 PASSED</a:t>
            </a:r>
          </a:p>
        </p:txBody>
      </p:sp>
      <p:sp>
        <p:nvSpPr>
          <p:cNvPr id="6" name="Rectangle 5"/>
          <p:cNvSpPr/>
          <p:nvPr/>
        </p:nvSpPr>
        <p:spPr>
          <a:xfrm>
            <a:off x="9811512" y="201168"/>
            <a:ext cx="2103120" cy="347472"/>
          </a:xfrm>
          <a:prstGeom prst="rect">
            <a:avLst/>
          </a:prstGeom>
          <a:solidFill>
            <a:srgbClr val="00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11512" y="228600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E5FF"/>
                </a:solidFill>
              </a:rPr>
              <a:t>sub-1 · avg 1.74×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234440"/>
            <a:ext cx="5532120" cy="5486400"/>
          </a:xfrm>
          <a:prstGeom prst="rect">
            <a:avLst/>
          </a:prstGeom>
          <a:solidFill>
            <a:srgbClr val="16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98448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D00"/>
                </a:solidFill>
              </a:rPr>
              <a:t>Bugs Fixed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373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6D00"/>
                </a:solidFill>
              </a:rPr>
              <a:t>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373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DPS signature: framework passes output as 11th arg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94691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6D00"/>
                </a:solidFill>
              </a:rPr>
              <a:t>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94691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  kernel only accepted 10 → TypeError crash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1564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6D00"/>
                </a:solidFill>
              </a:rPr>
              <a:t>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1564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Fix: add `output: torch.Tensor` param, write in-place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36601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6D00"/>
                </a:solidFill>
              </a:rPr>
              <a:t>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36601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5755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6D00"/>
                </a:solidFill>
              </a:rPr>
              <a:t>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25755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Routing logic must match reference exactly: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78511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6D00"/>
                </a:solidFill>
              </a:rPr>
              <a:t>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278511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  sigmoid(logits) + bias → group view(T,8,32)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9946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6D00"/>
                </a:solidFill>
              </a:rPr>
              <a:t>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29946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  topk(k=2, dim=2) sum → group scores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20421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6D00"/>
                </a:solidFill>
              </a:rPr>
              <a:t>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320421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  topk(k=4, dim=1) → group mask → expand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4137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6D00"/>
                </a:solidFill>
              </a:rPr>
              <a:t>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34137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  topk(k=8, pruned) → global expert selection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62331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6D00"/>
                </a:solidFill>
              </a:rPr>
              <a:t>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362331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  gather(s, topk_idx) / sum * scaling_factor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38328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6D00"/>
                </a:solidFill>
              </a:rPr>
              <a:t>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38328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04241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6D00"/>
                </a:solidFill>
              </a:rPr>
              <a:t>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404241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FP8 block-scale dequant: view(n,128,m,128) × scale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42519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6D00"/>
                </a:solidFill>
              </a:rPr>
              <a:t>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42519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SwiGLU: gate × silu(up) in FP32 accumulation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1234440"/>
            <a:ext cx="5879592" cy="2377440"/>
          </a:xfrm>
          <a:prstGeom prst="rect">
            <a:avLst/>
          </a:prstGeom>
          <a:solidFill>
            <a:srgbClr val="16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72200" y="1298448"/>
            <a:ext cx="56052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E5FF"/>
                </a:solidFill>
              </a:rPr>
              <a:t>Lesson Learned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72200" y="17373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E5FF"/>
                </a:solidFill>
              </a:rPr>
              <a:t>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1737360"/>
            <a:ext cx="5376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Read the framework source before writing one line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72200" y="19405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E5FF"/>
                </a:solidFill>
              </a:rPr>
              <a:t>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1940560"/>
            <a:ext cx="5376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DPS = Destination Passing Style — pre-allocated output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72200" y="21437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E5FF"/>
                </a:solidFill>
              </a:rPr>
              <a:t>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2143760"/>
            <a:ext cx="5376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The framework controls output memory lifecycle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72200" y="23469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E5FF"/>
                </a:solidFill>
              </a:rPr>
              <a:t>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2346960"/>
            <a:ext cx="5376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72200" y="25501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E5FF"/>
                </a:solidFill>
              </a:rPr>
              <a:t>▸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2550160"/>
            <a:ext cx="5376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Routing is the critical path to match exactly: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72200" y="27533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E5FF"/>
                </a:solidFill>
              </a:rPr>
              <a:t>▸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0" y="2753360"/>
            <a:ext cx="5376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Off-by-one in group_mask → wrong experts selected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72200" y="29565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E5FF"/>
                </a:solidFill>
              </a:rPr>
              <a:t>▸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2956560"/>
            <a:ext cx="5376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Wrong top-k order → different token weights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72200" y="31597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E5FF"/>
                </a:solidFill>
              </a:rPr>
              <a:t>▸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0" y="3159760"/>
            <a:ext cx="5376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54" name="Rectangle 53"/>
          <p:cNvSpPr/>
          <p:nvPr/>
        </p:nvSpPr>
        <p:spPr>
          <a:xfrm>
            <a:off x="6035040" y="3749039"/>
            <a:ext cx="5879592" cy="2971800"/>
          </a:xfrm>
          <a:prstGeom prst="rect">
            <a:avLst/>
          </a:prstGeom>
          <a:solidFill>
            <a:srgbClr val="08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035040" y="3749039"/>
            <a:ext cx="5879592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26480" y="3822191"/>
            <a:ext cx="56967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E5FF"/>
                </a:solidFill>
              </a:rPr>
              <a:t>Key Code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126480" y="4114799"/>
            <a:ext cx="569671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8D8FF"/>
                </a:solidFill>
              </a:rPr>
              <a:t># FP8 block-scale dequant
x = hidden.to(fp32).view(T, H//128, 128)
s = scale.t().unsqueeze(2)  # (T, H//128, 1)
a_fp32 = (x * s).reshape(T, H)
# Routing
s_wb = sigmoid(logits) + bias     # (T, 256)
groups = s_wb.view(T, 8, 32)      # group view
g_scores = topk(groups,k=2).sum() # sum top-2
mask = scatter topk(g_scores,k=4) # 4 groups
topk_idx = topk(masked, k=8)      # final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6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9728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Sub-3: Dispatch Table — 96 ops →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E5FF"/>
                </a:solidFill>
              </a:rPr>
              <a:t>Biggest single improvement · eliminated Python expert loop overhead</a:t>
            </a:r>
          </a:p>
        </p:txBody>
      </p:sp>
      <p:sp>
        <p:nvSpPr>
          <p:cNvPr id="6" name="Rectangle 5"/>
          <p:cNvSpPr/>
          <p:nvPr/>
        </p:nvSpPr>
        <p:spPr>
          <a:xfrm>
            <a:off x="9811512" y="201168"/>
            <a:ext cx="2103120" cy="347472"/>
          </a:xfrm>
          <a:prstGeom prst="rect">
            <a:avLst/>
          </a:prstGeom>
          <a:solidFill>
            <a:srgbClr val="00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11512" y="228600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E5FF"/>
                </a:solidFill>
              </a:rPr>
              <a:t>sub-3 · avg 2.17×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234440"/>
            <a:ext cx="5532120" cy="5486400"/>
          </a:xfrm>
          <a:prstGeom prst="rect">
            <a:avLst/>
          </a:prstGeom>
          <a:solidFill>
            <a:srgbClr val="16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98448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E5FF"/>
                </a:solidFill>
              </a:rPr>
              <a:t>What Changed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373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00E5FF"/>
                </a:solidFill>
              </a:rPr>
              <a:t>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373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BEFORE: per-expert loop with .nonzero() + .any()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94691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00E5FF"/>
                </a:solidFill>
              </a:rPr>
              <a:t>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94691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  for exp in range(32):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1564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00E5FF"/>
                </a:solidFill>
              </a:rPr>
              <a:t>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1564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    mask = (topk_idx == exp)  # launch!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36601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00E5FF"/>
                </a:solidFill>
              </a:rPr>
              <a:t>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36601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    if mask.any():             # launch!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5755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00E5FF"/>
                </a:solidFill>
              </a:rPr>
              <a:t>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25755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      tokens = mask.nonzero() # launch!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78511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00E5FF"/>
                </a:solidFill>
              </a:rPr>
              <a:t>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278511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  → 32 × 3 = 96 kernel launches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9946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00E5FF"/>
                </a:solidFill>
              </a:rPr>
              <a:t>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29946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20421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00E5FF"/>
                </a:solidFill>
              </a:rPr>
              <a:t>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320421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AFTER: vectorized dispatch table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4137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00E5FF"/>
                </a:solidFill>
              </a:rPr>
              <a:t>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34137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  all_valid = nonzero(valid_local)  # 1 launch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62331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00E5FF"/>
                </a:solidFill>
              </a:rPr>
              <a:t>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362331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  sort_order = argsort(expert_ids)  # 1 launch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38328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00E5FF"/>
                </a:solidFill>
              </a:rPr>
              <a:t>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38328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  unique, counts = unique_consecutive # 1 launch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04241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00E5FF"/>
                </a:solidFill>
              </a:rPr>
              <a:t>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404241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  boundaries = cumsum(counts)        # 1 launch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42519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00E5FF"/>
                </a:solidFill>
              </a:rPr>
              <a:t>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42519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  → loop reads CPU slices, no GPU ops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1234440"/>
            <a:ext cx="5879592" cy="5486400"/>
          </a:xfrm>
          <a:prstGeom prst="rect">
            <a:avLst/>
          </a:prstGeom>
          <a:solidFill>
            <a:srgbClr val="16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72200" y="1298448"/>
            <a:ext cx="56052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6FF03"/>
                </a:solidFill>
              </a:rPr>
              <a:t>Impact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72200" y="17373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76FF03"/>
                </a:solidFill>
              </a:rPr>
              <a:t>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1737360"/>
            <a:ext cx="5376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Small-T (T=1): 4.35× → 6.50× (+49%)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72200" y="194691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76FF03"/>
                </a:solidFill>
              </a:rPr>
              <a:t>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1946910"/>
            <a:ext cx="5376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Small-T (T=7): 2.86× → 3.73× (+30%)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72200" y="21564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76FF03"/>
                </a:solidFill>
              </a:rPr>
              <a:t>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2156460"/>
            <a:ext cx="5376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Mid-T (T=52): 1.60× → 1.85× (+16%)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72200" y="236601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76FF03"/>
                </a:solidFill>
              </a:rPr>
              <a:t>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2366010"/>
            <a:ext cx="5376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Large-T (T=14107): 1.03→1.85× (+80%!)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72200" y="25755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76FF03"/>
                </a:solidFill>
              </a:rPr>
              <a:t>▸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2575560"/>
            <a:ext cx="5376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72200" y="278511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76FF03"/>
                </a:solidFill>
              </a:rPr>
              <a:t>▸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0" y="2785110"/>
            <a:ext cx="5376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Sub-3 is the single largest improvement across ALL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72200" y="29946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76FF03"/>
                </a:solidFill>
              </a:rPr>
              <a:t>▸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2994660"/>
            <a:ext cx="5376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workload sizes — dispatch was ~60% of runtime 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72200" y="320421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76FF03"/>
                </a:solidFill>
              </a:rPr>
              <a:t>▸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0" y="3204210"/>
            <a:ext cx="5376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small-T sequences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72200" y="34137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76FF03"/>
                </a:solidFill>
              </a:rPr>
              <a:t>▸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0" y="3413760"/>
            <a:ext cx="5376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72200" y="362331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76FF03"/>
                </a:solidFill>
              </a:rPr>
              <a:t>▸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0800" y="3623310"/>
            <a:ext cx="5376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Average speedup: 1.74× → 2.17× (+25%)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172200" y="38328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76FF03"/>
                </a:solidFill>
              </a:rPr>
              <a:t>▸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0" y="3832860"/>
            <a:ext cx="5376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72200" y="404241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76FF03"/>
                </a:solidFill>
              </a:rPr>
              <a:t>▸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00800" y="4042410"/>
            <a:ext cx="5376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Key: stable argsort preserves token ordering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172200" y="42519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76FF03"/>
                </a:solidFill>
              </a:rPr>
              <a:t>▸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00800" y="4251960"/>
            <a:ext cx="5376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within each expert → numerically deterministic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6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9728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Sub-9: BF16 Tensor Cores via Lossless FP8→BF16 Cast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E5FF"/>
                </a:solidFill>
              </a:rPr>
              <a:t>Key insight: FP8 E4M3 is a subset of BF16 — cast is lossless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9811512" y="201168"/>
            <a:ext cx="2103120" cy="347472"/>
          </a:xfrm>
          <a:prstGeom prst="rect">
            <a:avLst/>
          </a:prstGeom>
          <a:solidFill>
            <a:srgbClr val="00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11512" y="228600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E5FF"/>
                </a:solidFill>
              </a:rPr>
              <a:t>sub-9 · avg 2.23×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234440"/>
            <a:ext cx="5532120" cy="5486400"/>
          </a:xfrm>
          <a:prstGeom prst="rect">
            <a:avLst/>
          </a:prstGeom>
          <a:solidFill>
            <a:srgbClr val="16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98448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6FF03"/>
                </a:solidFill>
              </a:rPr>
              <a:t>The Core Insight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373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76FF03"/>
                </a:solidFill>
              </a:rPr>
              <a:t>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373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FP8 E4M3: sign=1, exp=4, mantissa=3 bits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94691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76FF03"/>
                </a:solidFill>
              </a:rPr>
              <a:t>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94691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BF16:     sign=1, exp=8, mantissa=7 bits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1564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76FF03"/>
                </a:solidFill>
              </a:rPr>
              <a:t>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1564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→ FP8→BF16 upcast is LOSSLESS (all values preserved)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36601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76FF03"/>
                </a:solidFill>
              </a:rPr>
              <a:t>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36601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5755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76FF03"/>
                </a:solidFill>
              </a:rPr>
              <a:t>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25755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Before: load FP8 → dequant to FP32 → TF32 matmul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78511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76FF03"/>
                </a:solidFill>
              </a:rPr>
              <a:t>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278511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  Bandwidth: 4 B/elem (FP32 tiles), 60 TFLOPS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9946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76FF03"/>
                </a:solidFill>
              </a:rPr>
              <a:t>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29946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20421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76FF03"/>
                </a:solidFill>
              </a:rPr>
              <a:t>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320421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After:  load FP8 → cast to BF16 tile → BF16 matmul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4137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76FF03"/>
                </a:solidFill>
              </a:rPr>
              <a:t>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34137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  Bandwidth: 1 B/elem (FP8 tiles), 2,250 TFLOPS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62331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76FF03"/>
                </a:solidFill>
              </a:rPr>
              <a:t>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362331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  Apply block scale after dot in FP32 (no precision loss)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38328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76FF03"/>
                </a:solidFill>
              </a:rPr>
              <a:t>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38328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04241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76FF03"/>
                </a:solidFill>
              </a:rPr>
              <a:t>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404241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Triton kernel: load FP8 tile, .to(tl.bfloat16),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42519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76FF03"/>
                </a:solidFill>
              </a:rPr>
              <a:t>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42519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  tl.dot(a_tile, tl.trans(w_tile)) → FP32 accumulator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446151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76FF03"/>
                </a:solidFill>
              </a:rPr>
              <a:t>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446151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  multiply by a_scale × w_scale post-dot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35040" y="1234440"/>
            <a:ext cx="5879592" cy="2377440"/>
          </a:xfrm>
          <a:prstGeom prst="rect">
            <a:avLst/>
          </a:prstGeom>
          <a:solidFill>
            <a:srgbClr val="16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72200" y="1298448"/>
            <a:ext cx="56052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E5FF"/>
                </a:solidFill>
              </a:rPr>
              <a:t>Results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72200" y="17373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E5FF"/>
                </a:solidFill>
              </a:rPr>
              <a:t>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1737360"/>
            <a:ext cx="5376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T=1: 1.390 ms → peak 7.43× speedup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72200" y="19405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E5FF"/>
                </a:solidFill>
              </a:rPr>
              <a:t>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1940560"/>
            <a:ext cx="5376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T=14107: 18.540 ms (2.35× vs ref 45.4 ms)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72200" y="21437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E5FF"/>
                </a:solidFill>
              </a:rPr>
              <a:t>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2143760"/>
            <a:ext cx="5376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T=11948: 14.886 ms (2.32× vs ref 34.5 ms)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72200" y="23469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E5FF"/>
                </a:solidFill>
              </a:rPr>
              <a:t>▸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2346960"/>
            <a:ext cx="5376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72200" y="25501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E5FF"/>
                </a:solidFill>
              </a:rPr>
              <a:t>▸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0" y="2550160"/>
            <a:ext cx="5376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Eliminated separate FP32 weight materialization: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72200" y="27533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E5FF"/>
                </a:solidFill>
              </a:rPr>
              <a:t>▸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2753360"/>
            <a:ext cx="5376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Saved 112 MB/expert × 32 = 3.5 GB per pass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72200" y="29565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E5FF"/>
                </a:solidFill>
              </a:rPr>
              <a:t>▸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0" y="2956560"/>
            <a:ext cx="5376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72200" y="31597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E5FF"/>
                </a:solidFill>
              </a:rPr>
              <a:t>▸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0" y="3159760"/>
            <a:ext cx="5376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Triton SMEM budget (safe &lt; 228 KB):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035040" y="3749039"/>
            <a:ext cx="5879592" cy="2971800"/>
          </a:xfrm>
          <a:prstGeom prst="rect">
            <a:avLst/>
          </a:prstGeom>
          <a:solidFill>
            <a:srgbClr val="08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035040" y="3749039"/>
            <a:ext cx="5879592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126480" y="3822191"/>
            <a:ext cx="56967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E5FF"/>
                </a:solidFill>
              </a:rPr>
              <a:t>Key Code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126480" y="4114799"/>
            <a:ext cx="569671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8D8FF"/>
                </a:solidFill>
              </a:rPr>
              <a:t># Load FP8 tile, cast to BF16 — LOSSLESS
a_tile = tl.load(a_ptr + ...).to(tl.bfloat16)
w_gate = tl.load(w_ptr + ...).to(tl.bfloat16)
w_up   = tl.load(w_ptr + ...).to(tl.bfloat16)
# BF16 tensor cores: 2,250 TFLOPS!
raw_gate = tl.dot(a_tile, tl.trans(w_gate))
raw_up   = tl.dot(a_tile, tl.trans(w_up))
# Post-dot scale in FP32 (zero precision loss)
a_s  = tl.load(a_scale_ptr + k_blk*... + m*...)
gate_acc += raw_gate * (a_s[:,None] * ws_gate)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6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9728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Sub-13: Route-Weight Fused into GEMM2 Epilogue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E5FF"/>
                </a:solidFill>
              </a:rPr>
              <a:t>3 lines of code · saves one full scatter pass per expert</a:t>
            </a:r>
          </a:p>
        </p:txBody>
      </p:sp>
      <p:sp>
        <p:nvSpPr>
          <p:cNvPr id="6" name="Rectangle 5"/>
          <p:cNvSpPr/>
          <p:nvPr/>
        </p:nvSpPr>
        <p:spPr>
          <a:xfrm>
            <a:off x="9811512" y="201168"/>
            <a:ext cx="2103120" cy="347472"/>
          </a:xfrm>
          <a:prstGeom prst="rect">
            <a:avLst/>
          </a:prstGeom>
          <a:solidFill>
            <a:srgbClr val="00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11512" y="228600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E5FF"/>
                </a:solidFill>
              </a:rPr>
              <a:t>sub-13 · avg 2.11×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234440"/>
            <a:ext cx="5532120" cy="5486400"/>
          </a:xfrm>
          <a:prstGeom prst="rect">
            <a:avLst/>
          </a:prstGeom>
          <a:solidFill>
            <a:srgbClr val="16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98448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E5FF"/>
                </a:solidFill>
              </a:rPr>
              <a:t>What Changed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373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00E5FF"/>
                </a:solidFill>
              </a:rPr>
              <a:t>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373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BEFORE (sub-9 GEMM2): output to o_buf then multiply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94691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00E5FF"/>
                </a:solidFill>
              </a:rPr>
              <a:t>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94691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  o_buf[i] = gemm2_result[i]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1564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00E5FF"/>
                </a:solidFill>
              </a:rPr>
              <a:t>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1564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  o_buf *= route_w[:, None]          # extra pass!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36601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00E5FF"/>
                </a:solidFill>
              </a:rPr>
              <a:t>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36601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  accum.index_add_(0, t_idx, o_buf)  # scatter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5755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00E5FF"/>
                </a:solidFill>
              </a:rPr>
              <a:t>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25755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78511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00E5FF"/>
                </a:solidFill>
              </a:rPr>
              <a:t>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278511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AFTER: multiply in Triton epilogue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9946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00E5FF"/>
                </a:solidFill>
              </a:rPr>
              <a:t>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29946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  route_w = tl.load(route_w_ptr + offs_m)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20421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00E5FF"/>
                </a:solidFill>
              </a:rPr>
              <a:t>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320421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  acc = acc * route_w[:, None]  # in-register!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4137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00E5FF"/>
                </a:solidFill>
              </a:rPr>
              <a:t>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34137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  tl.store(o_ptr + ...)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62331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00E5FF"/>
                </a:solidFill>
              </a:rPr>
              <a:t>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362331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38328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00E5FF"/>
                </a:solidFill>
              </a:rPr>
              <a:t>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38328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Memory saved per expert per forward pass: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04241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00E5FF"/>
                </a:solidFill>
              </a:rPr>
              <a:t>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404241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  Tk × 7168 × 4 B read + Tk × 7168 × 4 B write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42519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00E5FF"/>
                </a:solidFill>
              </a:rPr>
              <a:t>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42519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  = 2 × Tk × 28 KB eliminated from HBM traffic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446151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00E5FF"/>
                </a:solidFill>
              </a:rPr>
              <a:t>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446151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46710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00E5FF"/>
                </a:solidFill>
              </a:rPr>
              <a:t>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46710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Safe: zero SMEM impact (route_w fits in 1 register)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1234440"/>
            <a:ext cx="5879592" cy="5486400"/>
          </a:xfrm>
          <a:prstGeom prst="rect">
            <a:avLst/>
          </a:prstGeom>
          <a:solidFill>
            <a:srgbClr val="16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72200" y="1298448"/>
            <a:ext cx="56052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D00"/>
                </a:solidFill>
              </a:rPr>
              <a:t>Design Principle: In-Register Fusion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72200" y="17373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6D00"/>
                </a:solidFill>
              </a:rPr>
              <a:t>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1737360"/>
            <a:ext cx="5376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The key insight: data in registers costs NOTHING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72200" y="194691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6D00"/>
                </a:solidFill>
              </a:rPr>
              <a:t>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1946910"/>
            <a:ext cx="5376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  Registers are on-chip, 0 bandwidth cost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72200" y="21564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6D00"/>
                </a:solidFill>
              </a:rPr>
              <a:t>▸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2156460"/>
            <a:ext cx="5376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  Any multiply in the epilogue is 'free' compute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72200" y="236601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6D00"/>
                </a:solidFill>
              </a:rPr>
              <a:t>▸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0" y="2366010"/>
            <a:ext cx="5376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72200" y="25755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6D00"/>
                </a:solidFill>
              </a:rPr>
              <a:t>▸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2575560"/>
            <a:ext cx="5376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Pattern applicable whenever you have: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72200" y="278511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6D00"/>
                </a:solidFill>
              </a:rPr>
              <a:t>▸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0" y="2785110"/>
            <a:ext cx="5376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  1. A per-row scalar weighting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72200" y="29946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6D00"/>
                </a:solidFill>
              </a:rPr>
              <a:t>▸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0" y="2994660"/>
            <a:ext cx="5376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  2. Applied immediately after matmul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72200" y="320421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6D00"/>
                </a:solidFill>
              </a:rPr>
              <a:t>▸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0800" y="3204210"/>
            <a:ext cx="5376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  → Always fuse into epilogue, never a separate pass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172200" y="34137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6D00"/>
                </a:solidFill>
              </a:rPr>
              <a:t>▸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0" y="3413760"/>
            <a:ext cx="5376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72200" y="362331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6D00"/>
                </a:solidFill>
              </a:rPr>
              <a:t>▸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00800" y="3623310"/>
            <a:ext cx="5376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Sub-13 is conservative: only sub-9 + epilogue fusion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172200" y="38328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6D00"/>
                </a:solidFill>
              </a:rPr>
              <a:t>▸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00800" y="3832860"/>
            <a:ext cx="5376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  No risky SMEM changes, no tile-size experiments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172200" y="404241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6D00"/>
                </a:solidFill>
              </a:rPr>
              <a:t>▸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00800" y="4042410"/>
            <a:ext cx="5376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  Stable 19/19 PASSED across all B200 runs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172200" y="42519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6D00"/>
                </a:solidFill>
              </a:rPr>
              <a:t>▸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00800" y="4251960"/>
            <a:ext cx="5376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172200" y="446151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6D00"/>
                </a:solidFill>
              </a:rPr>
              <a:t>▸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0" y="4461510"/>
            <a:ext cx="5376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Combined with sub-9: best overall Triton result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6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9728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CUDA Path: ATen C++ with Custom Kernels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E5FF"/>
                </a:solidFill>
              </a:rPr>
              <a:t>Pure CUDA C++ — no Python overhead, custom fused ops</a:t>
            </a:r>
          </a:p>
        </p:txBody>
      </p:sp>
      <p:sp>
        <p:nvSpPr>
          <p:cNvPr id="6" name="Rectangle 5"/>
          <p:cNvSpPr/>
          <p:nvPr/>
        </p:nvSpPr>
        <p:spPr>
          <a:xfrm>
            <a:off x="9811512" y="201168"/>
            <a:ext cx="2103120" cy="347472"/>
          </a:xfrm>
          <a:prstGeom prst="rect">
            <a:avLst/>
          </a:prstGeom>
          <a:solidFill>
            <a:srgbClr val="00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11512" y="228600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E5FF"/>
                </a:solidFill>
              </a:rPr>
              <a:t>cuda-16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234440"/>
            <a:ext cx="5532120" cy="5486400"/>
          </a:xfrm>
          <a:prstGeom prst="rect">
            <a:avLst/>
          </a:prstGeom>
          <a:solidFill>
            <a:srgbClr val="16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98448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D00"/>
                </a:solidFill>
              </a:rPr>
              <a:t>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373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6D00"/>
                </a:solidFill>
              </a:rPr>
              <a:t>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373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Language: CUDA C++ with PyTorch TorchBuilder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94691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6D00"/>
                </a:solidFill>
              </a:rPr>
              <a:t>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94691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Entry: kernel.cu::kernel (DPS style, 11 params)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1564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6D00"/>
                </a:solidFill>
              </a:rPr>
              <a:t>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1564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Build: torch.utils.cpp_extension.load() + nvcc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36601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6D00"/>
                </a:solidFill>
              </a:rPr>
              <a:t>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36601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5755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6D00"/>
                </a:solidFill>
              </a:rPr>
              <a:t>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25755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Custom CUDA kernels (no ATen dispatch overhead):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78511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6D00"/>
                </a:solidFill>
              </a:rPr>
              <a:t>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278511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  fused_sigmoid_bias: __expf intrinsic,1 kernel pass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9946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6D00"/>
                </a:solidFill>
              </a:rPr>
              <a:t>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29946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  swiglu_kernel: gate×silu(up) in single kernel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20421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6D00"/>
                </a:solidFill>
              </a:rPr>
              <a:t>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320421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  weighted_scatter_add: atomicAdd-based fusion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4137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6D00"/>
                </a:solidFill>
              </a:rPr>
              <a:t>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34137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62331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6D00"/>
                </a:solidFill>
              </a:rPr>
              <a:t>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362331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GEMMs via cuBLAS (at::matmul) with: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38328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6D00"/>
                </a:solidFill>
              </a:rPr>
              <a:t>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38328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  setFloat32MatmulPrecision('highest') — no TF32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04241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6D00"/>
                </a:solidFill>
              </a:rPr>
              <a:t>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404241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  Pre-gathered tokens: batch index_select upfront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42519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6D00"/>
                </a:solidFill>
              </a:rPr>
              <a:t>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42519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446151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6D00"/>
                </a:solidFill>
              </a:rPr>
              <a:t>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446151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Environment fix: add cuda-nvcc-12-8 to Modal image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46710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6D00"/>
                </a:solidFill>
              </a:rPr>
              <a:t>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46710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3 bugs fixed: no nvcc, wrong binding, wrong entry pt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1234440"/>
            <a:ext cx="5879592" cy="5486400"/>
          </a:xfrm>
          <a:prstGeom prst="rect">
            <a:avLst/>
          </a:prstGeom>
          <a:solidFill>
            <a:srgbClr val="16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72200" y="1298448"/>
            <a:ext cx="56052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6FF03"/>
                </a:solidFill>
              </a:rPr>
              <a:t>Triton vs CUDA (head-to-head)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72200" y="17373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76FF03"/>
                </a:solidFill>
              </a:rPr>
              <a:t>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1737360"/>
            <a:ext cx="5376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Triton wins on ALL 19/19 workloads: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72200" y="194691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76FF03"/>
                </a:solidFill>
              </a:rPr>
              <a:t>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1946910"/>
            <a:ext cx="5376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  T=1:     Triton 1.39 ms  vs CUDA 1.58 ms  (+14%)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72200" y="21564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76FF03"/>
                </a:solidFill>
              </a:rPr>
              <a:t>▸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2156460"/>
            <a:ext cx="5376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  T=7:     Triton 2.84 ms  vs CUDA 3.06 ms  (+8%)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72200" y="236601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76FF03"/>
                </a:solidFill>
              </a:rPr>
              <a:t>▸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0" y="2366010"/>
            <a:ext cx="5376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  T=901:   Triton 12.4 ms  vs CUDA 18.5 ms  (+49%)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72200" y="25755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76FF03"/>
                </a:solidFill>
              </a:rPr>
              <a:t>▸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2575560"/>
            <a:ext cx="5376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  T=14107: Triton 18.5 ms  vs CUDA 42.0 ms  (+127%!)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72200" y="278511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76FF03"/>
                </a:solidFill>
              </a:rPr>
              <a:t>▸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0" y="2785110"/>
            <a:ext cx="5376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72200" y="29946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76FF03"/>
                </a:solidFill>
              </a:rPr>
              <a:t>▸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0" y="2994660"/>
            <a:ext cx="5376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Why Triton dominates at large-T: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72200" y="320421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76FF03"/>
                </a:solidFill>
              </a:rPr>
              <a:t>▸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0800" y="3204210"/>
            <a:ext cx="5376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  FP8 on-the-fly dequant in K-loop = 4× less BW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172200" y="34137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76FF03"/>
                </a:solidFill>
              </a:rPr>
              <a:t>▸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0" y="3413760"/>
            <a:ext cx="5376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  BF16 tensor cores vs TF32 = 2× TFLOPS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72200" y="362331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76FF03"/>
                </a:solidFill>
              </a:rPr>
              <a:t>▸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00800" y="3623310"/>
            <a:ext cx="5376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  CUDA path materializes full FP32 weight matrices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172200" y="38328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76FF03"/>
                </a:solidFill>
              </a:rPr>
              <a:t>▸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00800" y="3832860"/>
            <a:ext cx="5376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172200" y="404241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76FF03"/>
                </a:solidFill>
              </a:rPr>
              <a:t>▸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00800" y="4042410"/>
            <a:ext cx="5376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CUDA advantage: better numerical stability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172200" y="42519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76FF03"/>
                </a:solidFill>
              </a:rPr>
              <a:t>▸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00800" y="4251960"/>
            <a:ext cx="5376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  Large-T rel_err: CUDA 0.5–5  vs Triton 10⁹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172200" y="446151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76FF03"/>
                </a:solidFill>
              </a:rPr>
              <a:t>▸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0" y="4461510"/>
            <a:ext cx="5376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  TF32 disabled (FP32 matmul) = exact accumulation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6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9728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Speedup Journey — Submission by Submission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E5FF"/>
                </a:solidFill>
              </a:rPr>
              <a:t>Average speedup across all 19 workloads · B200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840480"/>
            <a:ext cx="11091672" cy="9144"/>
          </a:xfrm>
          <a:prstGeom prst="rect">
            <a:avLst/>
          </a:prstGeom>
          <a:solidFill>
            <a:srgbClr val="28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" y="37307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A9BAE"/>
                </a:solidFill>
              </a:rPr>
              <a:t>1.0×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017520"/>
            <a:ext cx="11091672" cy="9144"/>
          </a:xfrm>
          <a:prstGeom prst="rect">
            <a:avLst/>
          </a:prstGeom>
          <a:solidFill>
            <a:srgbClr val="28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" y="290779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A9BAE"/>
                </a:solidFill>
              </a:rPr>
              <a:t>1.5×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194560"/>
            <a:ext cx="11091672" cy="9144"/>
          </a:xfrm>
          <a:prstGeom prst="rect">
            <a:avLst/>
          </a:prstGeom>
          <a:solidFill>
            <a:srgbClr val="28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" y="208483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A9BAE"/>
                </a:solidFill>
              </a:rPr>
              <a:t>2.0×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371600"/>
            <a:ext cx="11091672" cy="9144"/>
          </a:xfrm>
          <a:prstGeom prst="rect">
            <a:avLst/>
          </a:prstGeom>
          <a:solidFill>
            <a:srgbClr val="28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" y="126187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A9BAE"/>
                </a:solidFill>
              </a:rPr>
              <a:t>2.5×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" y="2622499"/>
            <a:ext cx="1067816" cy="2863900"/>
          </a:xfrm>
          <a:prstGeom prst="rect">
            <a:avLst/>
          </a:prstGeom>
          <a:solidFill>
            <a:srgbClr val="8A9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" y="2366467"/>
            <a:ext cx="10678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8A9BAE"/>
                </a:solidFill>
              </a:rPr>
              <a:t>1.74×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" y="5532120"/>
            <a:ext cx="10678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</a:rPr>
              <a:t>Sub-1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" y="5806440"/>
            <a:ext cx="115925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8A9BAE"/>
                </a:solidFill>
              </a:rPr>
              <a:t>Baseline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63344" y="2638958"/>
            <a:ext cx="1067816" cy="2847441"/>
          </a:xfrm>
          <a:prstGeom prst="rect">
            <a:avLst/>
          </a:prstGeom>
          <a:solidFill>
            <a:srgbClr val="8A9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63344" y="2382926"/>
            <a:ext cx="10678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8A9BAE"/>
                </a:solidFill>
              </a:rPr>
              <a:t>1.73×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63344" y="5532120"/>
            <a:ext cx="10678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</a:rPr>
              <a:t>Sub-2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17624" y="5806440"/>
            <a:ext cx="115925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8A9BAE"/>
                </a:solidFill>
              </a:rPr>
              <a:t>+fused GEMM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95752" y="1914753"/>
            <a:ext cx="1067816" cy="357164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95752" y="1658721"/>
            <a:ext cx="10678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2.17×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95752" y="5532120"/>
            <a:ext cx="10678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</a:rPr>
              <a:t>Sub-3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50032" y="5806440"/>
            <a:ext cx="115925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8A9BAE"/>
                </a:solidFill>
              </a:rPr>
              <a:t>+dispatch table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28160" y="2408529"/>
            <a:ext cx="1067816" cy="3077870"/>
          </a:xfrm>
          <a:prstGeom prst="rect">
            <a:avLst/>
          </a:prstGeom>
          <a:solidFill>
            <a:srgbClr val="8A9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28160" y="2152497"/>
            <a:ext cx="10678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8A9BAE"/>
                </a:solidFill>
              </a:rPr>
              <a:t>1.87×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28160" y="5532120"/>
            <a:ext cx="10678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</a:rPr>
              <a:t>Sub-5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82440" y="5806440"/>
            <a:ext cx="115925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8A9BAE"/>
                </a:solidFill>
              </a:rPr>
              <a:t>+cuBLAS TF32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60568" y="2046427"/>
            <a:ext cx="1067816" cy="34399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60568" y="1790395"/>
            <a:ext cx="10678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2.09×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60568" y="5532120"/>
            <a:ext cx="10678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</a:rPr>
              <a:t>Sub-6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14848" y="5806440"/>
            <a:ext cx="115925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8A9BAE"/>
                </a:solidFill>
              </a:rPr>
              <a:t>+reverted fix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92976" y="1815998"/>
            <a:ext cx="1067816" cy="367040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92976" y="1559966"/>
            <a:ext cx="10678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2.23×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92976" y="5532120"/>
            <a:ext cx="10678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</a:rPr>
              <a:t>Sub-9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47256" y="5806440"/>
            <a:ext cx="115925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8A9BAE"/>
                </a:solidFill>
              </a:rPr>
              <a:t>+BF16 TC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25384" y="2474366"/>
            <a:ext cx="1067816" cy="3012033"/>
          </a:xfrm>
          <a:prstGeom prst="rect">
            <a:avLst/>
          </a:prstGeom>
          <a:solidFill>
            <a:srgbClr val="FF3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25384" y="2218334"/>
            <a:ext cx="10678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3D00"/>
                </a:solidFill>
              </a:rPr>
              <a:t>1.83×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25384" y="5532120"/>
            <a:ext cx="10678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</a:rPr>
              <a:t>Sub-12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79664" y="5806440"/>
            <a:ext cx="115925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8A9BAE"/>
                </a:solidFill>
              </a:rPr>
              <a:t>SMEM OOM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257792" y="2013508"/>
            <a:ext cx="1067816" cy="34728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57792" y="1757476"/>
            <a:ext cx="10678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2.11×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57792" y="5532120"/>
            <a:ext cx="10678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</a:rPr>
              <a:t>Sub-13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12072" y="5806440"/>
            <a:ext cx="115925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8A9BAE"/>
                </a:solidFill>
              </a:rPr>
              <a:t>+epilogue fuse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490200" y="2029967"/>
            <a:ext cx="1067816" cy="3456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490200" y="1773935"/>
            <a:ext cx="10678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2.10×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490200" y="5532120"/>
            <a:ext cx="10678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</a:rPr>
              <a:t>Sub-14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444480" y="5806440"/>
            <a:ext cx="115925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8A9BAE"/>
                </a:solidFill>
              </a:rPr>
              <a:t>clean rerun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686800" y="1280160"/>
            <a:ext cx="3200400" cy="1463040"/>
          </a:xfrm>
          <a:prstGeom prst="rect">
            <a:avLst/>
          </a:prstGeom>
          <a:solidFill>
            <a:srgbClr val="00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686800" y="1280160"/>
            <a:ext cx="54864" cy="1463040"/>
          </a:xfrm>
          <a:prstGeom prst="rect">
            <a:avLst/>
          </a:prstGeom>
          <a:solidFill>
            <a:srgbClr val="76FF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823960" y="135331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6FF03"/>
                </a:solidFill>
              </a:rPr>
              <a:t>BEST RESULT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23960" y="1627632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Sub-9: avg 2.23×
Peak: 7.43× (T=1)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6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9728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Sub-9 Results — All 19 Workloads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E5FF"/>
                </a:solidFill>
              </a:rPr>
              <a:t>Best overall Triton submission · 19/19 PASSED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25880"/>
            <a:ext cx="11640312" cy="292608"/>
          </a:xfrm>
          <a:prstGeom prst="rect">
            <a:avLst/>
          </a:prstGeom>
          <a:solidFill>
            <a:srgbClr val="0A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53312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E5FF"/>
                </a:solidFill>
              </a:rPr>
              <a:t>Seq Len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353312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E5FF"/>
                </a:solidFill>
              </a:rPr>
              <a:t>Ref (ms)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353312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E5FF"/>
                </a:solidFill>
              </a:rPr>
              <a:t>Our (ms)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1353312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E5FF"/>
                </a:solidFill>
              </a:rPr>
              <a:t>Speedup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1353312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E5FF"/>
                </a:solidFill>
              </a:rPr>
              <a:t>Status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618488"/>
            <a:ext cx="11640312" cy="274320"/>
          </a:xfrm>
          <a:prstGeom prst="rect">
            <a:avLst/>
          </a:prstGeom>
          <a:solidFill>
            <a:srgbClr val="12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645920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T=1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1645920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10.83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645920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1.46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1645920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6FF03"/>
                </a:solidFill>
              </a:rPr>
              <a:t>7.43×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1645920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6FF03"/>
                </a:solidFill>
              </a:rPr>
              <a:t>✓ PASSED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1892808"/>
            <a:ext cx="11640312" cy="27432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1920240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T=7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1920240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11.40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1920240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2.99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1920240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E5FF"/>
                </a:solidFill>
              </a:rPr>
              <a:t>3.81×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1920240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6FF03"/>
                </a:solidFill>
              </a:rPr>
              <a:t>✓ PASSED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2167128"/>
            <a:ext cx="11640312" cy="274320"/>
          </a:xfrm>
          <a:prstGeom prst="rect">
            <a:avLst/>
          </a:prstGeom>
          <a:solidFill>
            <a:srgbClr val="12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2194560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T=14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2194560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12.22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2194560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5.09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06240" y="2194560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2.40×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0" y="2194560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6FF03"/>
                </a:solidFill>
              </a:rPr>
              <a:t>✓ PASSED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2441448"/>
            <a:ext cx="11640312" cy="27432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2468880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T=15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45920" y="2468880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11.36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26080" y="2468880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2.42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06240" y="2468880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E5FF"/>
                </a:solidFill>
              </a:rPr>
              <a:t>4.69×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0" y="2468880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6FF03"/>
                </a:solidFill>
              </a:rPr>
              <a:t>✓ PASSED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2715768"/>
            <a:ext cx="11640312" cy="274320"/>
          </a:xfrm>
          <a:prstGeom prst="rect">
            <a:avLst/>
          </a:prstGeom>
          <a:solidFill>
            <a:srgbClr val="12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2743200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T=16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45920" y="2743200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12.55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26080" y="2743200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5.68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06240" y="2743200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2.21×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0" y="2743200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6FF03"/>
                </a:solidFill>
              </a:rPr>
              <a:t>✓ PASSED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2990088"/>
            <a:ext cx="11640312" cy="27432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3017520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T=32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645920" y="3017520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13.77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26080" y="3017520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9.31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06240" y="3017520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9BAE"/>
                </a:solidFill>
              </a:rPr>
              <a:t>1.48×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69280" y="3017520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6FF03"/>
                </a:solidFill>
              </a:rPr>
              <a:t>✓ PASSED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3264408"/>
            <a:ext cx="11640312" cy="274320"/>
          </a:xfrm>
          <a:prstGeom prst="rect">
            <a:avLst/>
          </a:prstGeom>
          <a:solidFill>
            <a:srgbClr val="12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5760" y="3291840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T=52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645920" y="3291840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13.15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926080" y="3291840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7.39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06240" y="3291840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9BAE"/>
                </a:solidFill>
              </a:rPr>
              <a:t>1.78×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69280" y="3291840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6FF03"/>
                </a:solidFill>
              </a:rPr>
              <a:t>✓ PASSED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3538728"/>
            <a:ext cx="11640312" cy="27432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566160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T=53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45920" y="3566160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14.61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926080" y="3566160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10.74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206240" y="3566160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9BAE"/>
                </a:solidFill>
              </a:rPr>
              <a:t>1.36×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669280" y="3566160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6FF03"/>
                </a:solidFill>
              </a:rPr>
              <a:t>✓ PASSED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4320" y="3813048"/>
            <a:ext cx="11640312" cy="274320"/>
          </a:xfrm>
          <a:prstGeom prst="rect">
            <a:avLst/>
          </a:prstGeom>
          <a:solidFill>
            <a:srgbClr val="12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65760" y="3840480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T=54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645920" y="3840480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14.22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926080" y="3840480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10.16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206240" y="3840480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9BAE"/>
                </a:solidFill>
              </a:rPr>
              <a:t>1.40×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669280" y="3840480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6FF03"/>
                </a:solidFill>
              </a:rPr>
              <a:t>✓ PASSED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74320" y="4087368"/>
            <a:ext cx="11640312" cy="27432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65760" y="4114800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T=55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645920" y="4114800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14.53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926080" y="4114800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10.69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206240" y="4114800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9BAE"/>
                </a:solidFill>
              </a:rPr>
              <a:t>1.36×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669280" y="4114800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6FF03"/>
                </a:solidFill>
              </a:rPr>
              <a:t>✓ PASSED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74320" y="4361688"/>
            <a:ext cx="11640312" cy="274320"/>
          </a:xfrm>
          <a:prstGeom prst="rect">
            <a:avLst/>
          </a:prstGeom>
          <a:solidFill>
            <a:srgbClr val="12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65760" y="4389120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T=56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645920" y="4389120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15.03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926080" y="4389120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11.56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206240" y="4389120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9BAE"/>
                </a:solidFill>
              </a:rPr>
              <a:t>1.30×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669280" y="4389120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6FF03"/>
                </a:solidFill>
              </a:rPr>
              <a:t>✓ PASSED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74320" y="4636008"/>
            <a:ext cx="11640312" cy="27432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65760" y="4663440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T=57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645920" y="4663440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14.92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926080" y="4663440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11.39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206240" y="4663440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9BAE"/>
                </a:solidFill>
              </a:rPr>
              <a:t>1.31×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669280" y="4663440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6FF03"/>
                </a:solidFill>
              </a:rPr>
              <a:t>✓ PASSED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74320" y="4910328"/>
            <a:ext cx="11640312" cy="274320"/>
          </a:xfrm>
          <a:prstGeom prst="rect">
            <a:avLst/>
          </a:prstGeom>
          <a:solidFill>
            <a:srgbClr val="12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65760" y="4937760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T=58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645920" y="4937760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15.44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926080" y="4937760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11.97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206240" y="4937760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9BAE"/>
                </a:solidFill>
              </a:rPr>
              <a:t>1.29×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669280" y="4937760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6FF03"/>
                </a:solidFill>
              </a:rPr>
              <a:t>✓ PASSED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74320" y="5184648"/>
            <a:ext cx="11640312" cy="27432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65760" y="5212080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T=59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645920" y="5212080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13.54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926080" y="5212080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8.36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206240" y="5212080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9BAE"/>
                </a:solidFill>
              </a:rPr>
              <a:t>1.62×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669280" y="5212080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6FF03"/>
                </a:solidFill>
              </a:rPr>
              <a:t>✓ PASSED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74320" y="5458968"/>
            <a:ext cx="11640312" cy="274320"/>
          </a:xfrm>
          <a:prstGeom prst="rect">
            <a:avLst/>
          </a:prstGeom>
          <a:solidFill>
            <a:srgbClr val="12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65760" y="5486400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T=62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645920" y="5486400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13.73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926080" y="5486400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8.22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206240" y="5486400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9BAE"/>
                </a:solidFill>
              </a:rPr>
              <a:t>1.67×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669280" y="5486400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6FF03"/>
                </a:solidFill>
              </a:rPr>
              <a:t>✓ PASSED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274320" y="5733288"/>
            <a:ext cx="11640312" cy="27432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65760" y="5760720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T=80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645920" y="5760720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16.04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926080" y="5760720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13.04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206240" y="5760720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9BAE"/>
                </a:solidFill>
              </a:rPr>
              <a:t>1.23×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669280" y="5760720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6FF03"/>
                </a:solidFill>
              </a:rPr>
              <a:t>✓ PASSED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74320" y="6007608"/>
            <a:ext cx="11640312" cy="274320"/>
          </a:xfrm>
          <a:prstGeom prst="rect">
            <a:avLst/>
          </a:prstGeom>
          <a:solidFill>
            <a:srgbClr val="12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65760" y="6035040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T=901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645920" y="6035040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20.87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926080" y="6035040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13.13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206240" y="6035040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9BAE"/>
                </a:solidFill>
              </a:rPr>
              <a:t>1.59×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669280" y="6035040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6FF03"/>
                </a:solidFill>
              </a:rPr>
              <a:t>✓ PASSED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274320" y="6281928"/>
            <a:ext cx="11640312" cy="27432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65760" y="6309360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T=11948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645920" y="6309360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35.67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2926080" y="6309360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15.38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206240" y="6309360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2.32×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669280" y="6309360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6FF03"/>
                </a:solidFill>
              </a:rPr>
              <a:t>✓ PASSED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274320" y="6556248"/>
            <a:ext cx="11640312" cy="274320"/>
          </a:xfrm>
          <a:prstGeom prst="rect">
            <a:avLst/>
          </a:prstGeom>
          <a:solidFill>
            <a:srgbClr val="12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65760" y="6583680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T=14107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645920" y="6583680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45.44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926080" y="6583680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19.33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206240" y="6583680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2.35×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5669280" y="6583680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6FF03"/>
                </a:solidFill>
              </a:rPr>
              <a:t>✓ PASSED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6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9728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Bottleneck Analysis by Workload Size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E5FF"/>
                </a:solidFill>
              </a:rPr>
              <a:t>Different regimes have fundamentally different bottlenecks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25880"/>
            <a:ext cx="3657600" cy="5303520"/>
          </a:xfrm>
          <a:prstGeom prst="rect">
            <a:avLst/>
          </a:prstGeom>
          <a:solidFill>
            <a:srgbClr val="16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325880"/>
            <a:ext cx="3657600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41732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E5FF"/>
                </a:solidFill>
              </a:rPr>
              <a:t>T ≤ 15 (seq_len 1–15)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80136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9BAE"/>
                </a:solidFill>
              </a:rPr>
              <a:t>Dominant bottleneck: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057400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Kernel launch overhead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46888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A9BAE"/>
                </a:solidFill>
              </a:rPr>
              <a:t>Dispatch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670048"/>
            <a:ext cx="2029968" cy="16459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2670048"/>
            <a:ext cx="3383280" cy="164592"/>
          </a:xfrm>
          <a:prstGeom prst="rect">
            <a:avLst/>
          </a:prstGeom>
          <a:solidFill>
            <a:srgbClr val="22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2670048"/>
            <a:ext cx="2029968" cy="16459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0" y="263347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5FF"/>
                </a:solidFill>
              </a:rPr>
              <a:t>~60% of runtime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2907792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A9BAE"/>
                </a:solidFill>
              </a:rPr>
              <a:t>Routing Py Ops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108960"/>
            <a:ext cx="676656" cy="16459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3108960"/>
            <a:ext cx="3383280" cy="164592"/>
          </a:xfrm>
          <a:prstGeom prst="rect">
            <a:avLst/>
          </a:prstGeom>
          <a:solidFill>
            <a:srgbClr val="22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3108960"/>
            <a:ext cx="676656" cy="16459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0" y="3072384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5FF"/>
                </a:solidFill>
              </a:rPr>
              <a:t>~20%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3346704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A9BAE"/>
                </a:solidFill>
              </a:rPr>
              <a:t>Gemm Compute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3547872"/>
            <a:ext cx="338328" cy="16459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3547872"/>
            <a:ext cx="3383280" cy="164592"/>
          </a:xfrm>
          <a:prstGeom prst="rect">
            <a:avLst/>
          </a:prstGeom>
          <a:solidFill>
            <a:srgbClr val="22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" y="3547872"/>
            <a:ext cx="338328" cy="16459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0" y="3511296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5FF"/>
                </a:solidFill>
              </a:rPr>
              <a:t>~10%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3785616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A9BAE"/>
                </a:solidFill>
              </a:rPr>
              <a:t>Other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3986784"/>
            <a:ext cx="338328" cy="16459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1480" y="3986784"/>
            <a:ext cx="3383280" cy="164592"/>
          </a:xfrm>
          <a:prstGeom prst="rect">
            <a:avLst/>
          </a:prstGeom>
          <a:solidFill>
            <a:srgbClr val="22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1480" y="3986784"/>
            <a:ext cx="338328" cy="16459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40480" y="395020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5FF"/>
                </a:solidFill>
              </a:rPr>
              <a:t>~10%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315968"/>
            <a:ext cx="3474720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4407408"/>
            <a:ext cx="3383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0E5FF"/>
                </a:solidFill>
              </a:rPr>
              <a:t>Best fix: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4645152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Pre-computed dispatch table (sub-3) → +34%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0" y="1325880"/>
            <a:ext cx="3657600" cy="5303520"/>
          </a:xfrm>
          <a:prstGeom prst="rect">
            <a:avLst/>
          </a:prstGeom>
          <a:solidFill>
            <a:srgbClr val="16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114800" y="1325880"/>
            <a:ext cx="3657600" cy="4572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51960" y="141732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6D00"/>
                </a:solidFill>
              </a:rPr>
              <a:t>T 50–100 (seq_len 50–100)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51960" y="180136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9BAE"/>
                </a:solidFill>
              </a:rPr>
              <a:t>Dominant bottleneck: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51960" y="2057400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Gemm compute + weight bandwidth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46888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A9BAE"/>
                </a:solidFill>
              </a:rPr>
              <a:t>Gemm1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51960" y="2670048"/>
            <a:ext cx="1353312" cy="164592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251960" y="2670048"/>
            <a:ext cx="3383280" cy="164592"/>
          </a:xfrm>
          <a:prstGeom prst="rect">
            <a:avLst/>
          </a:prstGeom>
          <a:solidFill>
            <a:srgbClr val="22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251960" y="2670048"/>
            <a:ext cx="1353312" cy="164592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80960" y="263347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6D00"/>
                </a:solidFill>
              </a:rPr>
              <a:t>~40%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51960" y="2907792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A9BAE"/>
                </a:solidFill>
              </a:rPr>
              <a:t>Gemm2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51960" y="3108960"/>
            <a:ext cx="1014984" cy="164592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251960" y="3108960"/>
            <a:ext cx="3383280" cy="164592"/>
          </a:xfrm>
          <a:prstGeom prst="rect">
            <a:avLst/>
          </a:prstGeom>
          <a:solidFill>
            <a:srgbClr val="22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251960" y="3108960"/>
            <a:ext cx="1014984" cy="164592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80960" y="3072384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6D00"/>
                </a:solidFill>
              </a:rPr>
              <a:t>~30%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51960" y="3346704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A9BAE"/>
                </a:solidFill>
              </a:rPr>
              <a:t>Dispatch Routing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251960" y="3547872"/>
            <a:ext cx="676656" cy="164592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251960" y="3547872"/>
            <a:ext cx="3383280" cy="164592"/>
          </a:xfrm>
          <a:prstGeom prst="rect">
            <a:avLst/>
          </a:prstGeom>
          <a:solidFill>
            <a:srgbClr val="22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251960" y="3547872"/>
            <a:ext cx="676656" cy="164592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680960" y="3511296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6D00"/>
                </a:solidFill>
              </a:rPr>
              <a:t>~20%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51960" y="3785616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A9BAE"/>
                </a:solidFill>
              </a:rPr>
              <a:t>Other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251960" y="3986784"/>
            <a:ext cx="338328" cy="164592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251960" y="3986784"/>
            <a:ext cx="3383280" cy="164592"/>
          </a:xfrm>
          <a:prstGeom prst="rect">
            <a:avLst/>
          </a:prstGeom>
          <a:solidFill>
            <a:srgbClr val="22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251960" y="3986784"/>
            <a:ext cx="338328" cy="164592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680960" y="395020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6D00"/>
                </a:solidFill>
              </a:rPr>
              <a:t>~10%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206240" y="4315968"/>
            <a:ext cx="3474720" cy="36576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251960" y="4407408"/>
            <a:ext cx="3383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6D00"/>
                </a:solidFill>
              </a:rPr>
              <a:t>Best fix: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251960" y="4645152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BF16 tensor cores (sub-9) + fused route-weight (sub-13)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955279" y="1325880"/>
            <a:ext cx="3657600" cy="5303520"/>
          </a:xfrm>
          <a:prstGeom prst="rect">
            <a:avLst/>
          </a:prstGeom>
          <a:solidFill>
            <a:srgbClr val="16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955279" y="1325880"/>
            <a:ext cx="3657600" cy="45720"/>
          </a:xfrm>
          <a:prstGeom prst="rect">
            <a:avLst/>
          </a:prstGeom>
          <a:solidFill>
            <a:srgbClr val="76FF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092439" y="141732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6FF03"/>
                </a:solidFill>
              </a:rPr>
              <a:t>T ≥ 1000 (seq_len 901–14107)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092439" y="180136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9BAE"/>
                </a:solidFill>
              </a:rPr>
              <a:t>Dominant bottleneck: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092439" y="2057400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Weight memory bandwidth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092439" y="246888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A9BAE"/>
                </a:solidFill>
              </a:rPr>
              <a:t>Weight Load W13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092439" y="2670048"/>
            <a:ext cx="1522476" cy="164592"/>
          </a:xfrm>
          <a:prstGeom prst="rect">
            <a:avLst/>
          </a:prstGeom>
          <a:solidFill>
            <a:srgbClr val="76FF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092439" y="2670048"/>
            <a:ext cx="3383280" cy="164592"/>
          </a:xfrm>
          <a:prstGeom prst="rect">
            <a:avLst/>
          </a:prstGeom>
          <a:solidFill>
            <a:srgbClr val="22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092439" y="2670048"/>
            <a:ext cx="1522476" cy="164592"/>
          </a:xfrm>
          <a:prstGeom prst="rect">
            <a:avLst/>
          </a:prstGeom>
          <a:solidFill>
            <a:srgbClr val="76FF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1521439" y="263347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6FF03"/>
                </a:solidFill>
              </a:rPr>
              <a:t>~45%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92439" y="2907792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A9BAE"/>
                </a:solidFill>
              </a:rPr>
              <a:t>Weight Load W2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092439" y="3108960"/>
            <a:ext cx="845820" cy="164592"/>
          </a:xfrm>
          <a:prstGeom prst="rect">
            <a:avLst/>
          </a:prstGeom>
          <a:solidFill>
            <a:srgbClr val="76FF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092439" y="3108960"/>
            <a:ext cx="3383280" cy="164592"/>
          </a:xfrm>
          <a:prstGeom prst="rect">
            <a:avLst/>
          </a:prstGeom>
          <a:solidFill>
            <a:srgbClr val="22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8092439" y="3108960"/>
            <a:ext cx="845820" cy="164592"/>
          </a:xfrm>
          <a:prstGeom prst="rect">
            <a:avLst/>
          </a:prstGeom>
          <a:solidFill>
            <a:srgbClr val="76FF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1521439" y="3072384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6FF03"/>
                </a:solidFill>
              </a:rPr>
              <a:t>~25%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092439" y="3346704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A9BAE"/>
                </a:solidFill>
              </a:rPr>
              <a:t>Gemm Compute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092439" y="3547872"/>
            <a:ext cx="676656" cy="164592"/>
          </a:xfrm>
          <a:prstGeom prst="rect">
            <a:avLst/>
          </a:prstGeom>
          <a:solidFill>
            <a:srgbClr val="76FF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092439" y="3547872"/>
            <a:ext cx="3383280" cy="164592"/>
          </a:xfrm>
          <a:prstGeom prst="rect">
            <a:avLst/>
          </a:prstGeom>
          <a:solidFill>
            <a:srgbClr val="22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092439" y="3547872"/>
            <a:ext cx="676656" cy="164592"/>
          </a:xfrm>
          <a:prstGeom prst="rect">
            <a:avLst/>
          </a:prstGeom>
          <a:solidFill>
            <a:srgbClr val="76FF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1521439" y="3511296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6FF03"/>
                </a:solidFill>
              </a:rPr>
              <a:t>~20%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092439" y="3785616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A9BAE"/>
                </a:solidFill>
              </a:rPr>
              <a:t>Routing Dispatch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092439" y="3986784"/>
            <a:ext cx="338328" cy="164592"/>
          </a:xfrm>
          <a:prstGeom prst="rect">
            <a:avLst/>
          </a:prstGeom>
          <a:solidFill>
            <a:srgbClr val="76FF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8092439" y="3986784"/>
            <a:ext cx="3383280" cy="164592"/>
          </a:xfrm>
          <a:prstGeom prst="rect">
            <a:avLst/>
          </a:prstGeom>
          <a:solidFill>
            <a:srgbClr val="22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8092439" y="3986784"/>
            <a:ext cx="338328" cy="164592"/>
          </a:xfrm>
          <a:prstGeom prst="rect">
            <a:avLst/>
          </a:prstGeom>
          <a:solidFill>
            <a:srgbClr val="76FF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1521439" y="395020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6FF03"/>
                </a:solidFill>
              </a:rPr>
              <a:t>~10%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046719" y="4315968"/>
            <a:ext cx="3474720" cy="36576"/>
          </a:xfrm>
          <a:prstGeom prst="rect">
            <a:avLst/>
          </a:prstGeom>
          <a:solidFill>
            <a:srgbClr val="76FF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092439" y="4407408"/>
            <a:ext cx="3383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76FF03"/>
                </a:solidFill>
              </a:rPr>
              <a:t>Best fix: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092439" y="4645152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FP8 on-the-fly dequant (sub-9) — avoids 112 MB/expert FP32 materialization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6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9728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Optimization Taxonomy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E5FF"/>
                </a:solidFill>
              </a:rPr>
              <a:t>All techniques applied — categorized by type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325880"/>
            <a:ext cx="2267712" cy="5303520"/>
          </a:xfrm>
          <a:prstGeom prst="rect">
            <a:avLst/>
          </a:prstGeom>
          <a:solidFill>
            <a:srgbClr val="16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325880"/>
            <a:ext cx="2267712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399032"/>
            <a:ext cx="20848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E5FF"/>
                </a:solidFill>
              </a:rPr>
              <a:t>Correctness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" y="1801368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E5FF"/>
                </a:solidFill>
              </a:rPr>
              <a:t>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801368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DPS signature: output as 11th arg (sub-1)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" y="1979168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E5FF"/>
                </a:solidFill>
              </a:rPr>
              <a:t>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1979168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Routing: sigmoid→group-top2→group-top4→global-top8→normalize (sub-1)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" y="2156968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E5FF"/>
                </a:solidFill>
              </a:rPr>
              <a:t>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2156968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FP8 block-scale dequant: block reshape pattern (sub-1)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" y="2334768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E5FF"/>
                </a:solidFill>
              </a:rPr>
              <a:t>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2334768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SwiGLU: gate × silu(up) in FP32 (sub-1)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06040" y="1325880"/>
            <a:ext cx="2267712" cy="5303520"/>
          </a:xfrm>
          <a:prstGeom prst="rect">
            <a:avLst/>
          </a:prstGeom>
          <a:solidFill>
            <a:srgbClr val="16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06040" y="1325880"/>
            <a:ext cx="2267712" cy="4572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97480" y="1399032"/>
            <a:ext cx="20848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6D00"/>
                </a:solidFill>
              </a:rPr>
              <a:t>Dispatch Overhead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79192" y="1801368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6D00"/>
                </a:solidFill>
              </a:rPr>
              <a:t>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07792" y="1801368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96 kernel launches → 4: nonzero + argsort + unique_consecutive (sub-3) → +34%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79192" y="1979168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6D00"/>
                </a:solidFill>
              </a:rPr>
              <a:t>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07792" y="1979168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Bulk FP8 gather: index_select once for all experts (sub-9)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9192" y="2156968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6D00"/>
                </a:solidFill>
              </a:rPr>
              <a:t>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07792" y="2156968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Pre-sort tokens by expert ID for coalesced access (sub-9)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79192" y="2334768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6D00"/>
                </a:solidFill>
              </a:rPr>
              <a:t>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07792" y="2334768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Lazy FP32 dequant cache: only on first cuBLAS fallback (sub-9)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83480" y="1325880"/>
            <a:ext cx="2267712" cy="5303520"/>
          </a:xfrm>
          <a:prstGeom prst="rect">
            <a:avLst/>
          </a:prstGeom>
          <a:solidFill>
            <a:srgbClr val="16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983480" y="1325880"/>
            <a:ext cx="2267712" cy="45720"/>
          </a:xfrm>
          <a:prstGeom prst="rect">
            <a:avLst/>
          </a:prstGeom>
          <a:solidFill>
            <a:srgbClr val="76FF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74920" y="1399032"/>
            <a:ext cx="20848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6FF03"/>
                </a:solidFill>
              </a:rPr>
              <a:t>GEMM Compute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56632" y="1801368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6FF03"/>
                </a:solidFill>
              </a:rPr>
              <a:t>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85232" y="1801368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cuBLAS TF32 tensor cores via torch.matmul (sub-2/5)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56632" y="1979168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6FF03"/>
                </a:solidFill>
              </a:rPr>
              <a:t>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85232" y="1979168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Fused Triton GEMM1+SwiGLU: K-loop dequant, saves 5.3 GB/fwd (sub-2)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56632" y="2156968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6FF03"/>
                </a:solidFill>
              </a:rPr>
              <a:t>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85232" y="2156968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BF16 tensor cores via lossless FP8→BF16 cast (sub-9) → 2× TFLOPS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56632" y="2334768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6FF03"/>
                </a:solidFill>
              </a:rPr>
              <a:t>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85232" y="2334768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Factored block-scale: load a_s and ws per-tile, multiply post-dot FP32 (sub-9)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56632" y="2512568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6FF03"/>
                </a:solidFill>
              </a:rPr>
              <a:t>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85232" y="2512568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Route-weight fused into GEMM2 epilogue — eliminates a scatter pass (sub-13)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60920" y="1325880"/>
            <a:ext cx="2267712" cy="5303520"/>
          </a:xfrm>
          <a:prstGeom prst="rect">
            <a:avLst/>
          </a:prstGeom>
          <a:solidFill>
            <a:srgbClr val="16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60920" y="1325880"/>
            <a:ext cx="2267712" cy="45720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52360" y="1399032"/>
            <a:ext cx="20848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C400"/>
                </a:solidFill>
              </a:rPr>
              <a:t>Memory &amp; SMEM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34072" y="1801368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C400"/>
                </a:solidFill>
              </a:rPr>
              <a:t>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62672" y="1801368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On-the-fly dequant in K-loop: eliminates full FP32 weight materialization (sub-2)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34072" y="1979168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C400"/>
                </a:solidFill>
              </a:rPr>
              <a:t>▸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62672" y="1979168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FP8 gather: 1 B/elem vs 4 B/elem FP32 = 4× less bandwidth (sub-9)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34072" y="2156968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C400"/>
                </a:solidFill>
              </a:rPr>
              <a:t>▸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62672" y="2156968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num_stages=3 for GEMM2: 24KB A + 16KB W × 3 = 120KB, safely &lt;228 KB (sub-9/13)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34072" y="2334768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C400"/>
                </a:solidFill>
              </a:rPr>
              <a:t>▸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62672" y="2334768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Pre-allocate c_buf/o_buf with max_tk: avoids per-expert torch.empty (sub-9)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738360" y="1325880"/>
            <a:ext cx="2267712" cy="5303520"/>
          </a:xfrm>
          <a:prstGeom prst="rect">
            <a:avLst/>
          </a:prstGeom>
          <a:solidFill>
            <a:srgbClr val="16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738360" y="1325880"/>
            <a:ext cx="2267712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829800" y="1399032"/>
            <a:ext cx="20848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E5FF"/>
                </a:solidFill>
              </a:rPr>
              <a:t>Adaptive Paths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811512" y="1801368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E5FF"/>
                </a:solidFill>
              </a:rPr>
              <a:t>▸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40112" y="1801368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cuBLAS fallback for Tk&lt;32: lower launch cost for tiny experts (sub-2→9)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811512" y="1979168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E5FF"/>
                </a:solidFill>
              </a:rPr>
              <a:t>▸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040112" y="1979168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Bulk gather threshold Tk≥64: amortize index_select overhead (sub-9)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811512" y="2156968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E5FF"/>
                </a:solidFill>
              </a:rPr>
              <a:t>▸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040112" y="2156968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FUSED_GEMM_THRESHOLD=32: balances Triton launch vs compute benefit (sub-9)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6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9728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Lessons Learned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E5FF"/>
                </a:solidFill>
              </a:rPr>
              <a:t>What actually moved the needle — and what didn't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25880"/>
            <a:ext cx="3788664" cy="5303520"/>
          </a:xfrm>
          <a:prstGeom prst="rect">
            <a:avLst/>
          </a:prstGeom>
          <a:solidFill>
            <a:srgbClr val="16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325880"/>
            <a:ext cx="3788664" cy="45720"/>
          </a:xfrm>
          <a:prstGeom prst="rect">
            <a:avLst/>
          </a:prstGeom>
          <a:solidFill>
            <a:srgbClr val="76FF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389888"/>
            <a:ext cx="35600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6FF03"/>
                </a:solidFill>
              </a:rPr>
              <a:t>✓ DID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810512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6FF03"/>
                </a:solidFill>
              </a:rPr>
              <a:t>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1810512"/>
            <a:ext cx="33314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Dispatch table (96→4 ops): single biggest win → +25% avg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2001012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6FF03"/>
                </a:solidFill>
              </a:rPr>
              <a:t>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2001012"/>
            <a:ext cx="33314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FP8→BF16 lossless cast: correct AND 4× less bandwidth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2191512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6FF03"/>
                </a:solidFill>
              </a:rPr>
              <a:t>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2191512"/>
            <a:ext cx="33314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BF16 tensor cores: 2× TFLOPS, no accuracy loss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2382012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6FF03"/>
                </a:solidFill>
              </a:rPr>
              <a:t>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2382012"/>
            <a:ext cx="33314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In-register route-weight fusion: free compute in epilogue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2572512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6FF03"/>
                </a:solidFill>
              </a:rPr>
              <a:t>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2572512"/>
            <a:ext cx="33314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Stable argsort: deterministic token ordering matters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2763012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6FF03"/>
                </a:solidFill>
              </a:rPr>
              <a:t>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2763012"/>
            <a:ext cx="33314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Bulk index_select: amortize gather across all experts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0144" y="1325880"/>
            <a:ext cx="3788664" cy="5303520"/>
          </a:xfrm>
          <a:prstGeom prst="rect">
            <a:avLst/>
          </a:prstGeom>
          <a:solidFill>
            <a:srgbClr val="16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00144" y="1325880"/>
            <a:ext cx="3788664" cy="45720"/>
          </a:xfrm>
          <a:prstGeom prst="rect">
            <a:avLst/>
          </a:prstGeom>
          <a:solidFill>
            <a:srgbClr val="FF3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09872" y="1389888"/>
            <a:ext cx="35600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3D00"/>
                </a:solidFill>
              </a:rPr>
              <a:t>✗ CAUSED REGRESSION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9872" y="1810512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3D00"/>
                </a:solidFill>
              </a:rPr>
              <a:t>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38472" y="1810512"/>
            <a:ext cx="33314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cuBLAS TF32 without fused dequant: materialization cost &gt; gain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09872" y="2001012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3D00"/>
                </a:solidFill>
              </a:rPr>
              <a:t>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38472" y="2001012"/>
            <a:ext cx="33314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num_stages=4 in GEMM2: overflowed 228 KB SMEM, 3 errors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09872" y="2191512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3D00"/>
                </a:solidFill>
              </a:rPr>
              <a:t>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38472" y="2191512"/>
            <a:ext cx="33314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Non-contiguous sorted_w tensor: Triton pointer crash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09872" y="2382012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3D00"/>
                </a:solidFill>
              </a:rPr>
              <a:t>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38472" y="2382012"/>
            <a:ext cx="33314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Removing .contiguous() calls: Triton needs contiguous layout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09872" y="2572512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3D00"/>
                </a:solidFill>
              </a:rPr>
              <a:t>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38472" y="2572512"/>
            <a:ext cx="33314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Removing routing_logits.to(float32): was ALREADY float32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9872" y="2763012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3D00"/>
                </a:solidFill>
              </a:rPr>
              <a:t>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38472" y="2763012"/>
            <a:ext cx="33314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TF32 default on B200: caused ±4096 absolute errors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25968" y="1325880"/>
            <a:ext cx="3788664" cy="5303520"/>
          </a:xfrm>
          <a:prstGeom prst="rect">
            <a:avLst/>
          </a:prstGeom>
          <a:solidFill>
            <a:srgbClr val="16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125968" y="1325880"/>
            <a:ext cx="3788664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35696" y="1389888"/>
            <a:ext cx="35600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E5FF"/>
                </a:solidFill>
              </a:rPr>
              <a:t>→ KEY PRINCIPLES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35696" y="1810512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E5FF"/>
                </a:solidFill>
              </a:rPr>
              <a:t>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64296" y="1810512"/>
            <a:ext cx="33314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Verify SMEM budget: (BM×BK + BN×BK) × stages &lt; 228 KB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35696" y="2001012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E5FF"/>
                </a:solidFill>
              </a:rPr>
              <a:t>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64296" y="2001012"/>
            <a:ext cx="33314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Read framework src FIRST: DPS, TorchBuilder, BuildSpec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35696" y="2191512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E5FF"/>
                </a:solidFill>
              </a:rPr>
              <a:t>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64296" y="2191512"/>
            <a:ext cx="33314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Profile by regime: small-T ≠ large-T bottlenecks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35696" y="2382012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E5FF"/>
                </a:solidFill>
              </a:rPr>
              <a:t>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64296" y="2382012"/>
            <a:ext cx="33314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Lossless casts &gt; lossy precision for free accuracy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35696" y="2572512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E5FF"/>
                </a:solidFill>
              </a:rPr>
              <a:t>▸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64296" y="2572512"/>
            <a:ext cx="33314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Always .contiguous() before passing to Triton kernels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35696" y="2763012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E5FF"/>
                </a:solidFill>
              </a:rPr>
              <a:t>▸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64296" y="2763012"/>
            <a:ext cx="33314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Prefer epilogue fusion over separate kernel passes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6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9728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Future Work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E5FF"/>
                </a:solidFill>
              </a:rPr>
              <a:t>Where 5–10× additional speedup could come from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25880"/>
            <a:ext cx="3788664" cy="2148840"/>
          </a:xfrm>
          <a:prstGeom prst="rect">
            <a:avLst/>
          </a:prstGeom>
          <a:solidFill>
            <a:srgbClr val="16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325880"/>
            <a:ext cx="3788664" cy="45720"/>
          </a:xfrm>
          <a:prstGeom prst="rect">
            <a:avLst/>
          </a:prstGeom>
          <a:solidFill>
            <a:srgbClr val="76FF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85744" y="1399032"/>
            <a:ext cx="685800" cy="292608"/>
          </a:xfrm>
          <a:prstGeom prst="rect">
            <a:avLst/>
          </a:prstGeom>
          <a:solidFill>
            <a:srgbClr val="003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85744" y="1417320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76FF03"/>
                </a:solidFill>
              </a:rPr>
              <a:t>2–4×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417320"/>
            <a:ext cx="27828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6FF03"/>
                </a:solidFill>
              </a:rPr>
              <a:t>CuTe DSL Grouped GEMM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801368"/>
            <a:ext cx="360578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Batch all experts in ONE persistent kernel. Eliminates 32× sequential loop entirely.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0144" y="1325880"/>
            <a:ext cx="3788664" cy="2148840"/>
          </a:xfrm>
          <a:prstGeom prst="rect">
            <a:avLst/>
          </a:prstGeom>
          <a:solidFill>
            <a:srgbClr val="16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00144" y="1325880"/>
            <a:ext cx="3788664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211568" y="1399032"/>
            <a:ext cx="685800" cy="292608"/>
          </a:xfrm>
          <a:prstGeom prst="rect">
            <a:avLst/>
          </a:prstGeom>
          <a:solidFill>
            <a:srgbClr val="003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11568" y="1417320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76FF03"/>
                </a:solidFill>
              </a:rPr>
              <a:t>1.5–2×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1584" y="1417320"/>
            <a:ext cx="27828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E5FF"/>
                </a:solidFill>
              </a:rPr>
              <a:t>Native FP8 MMA Instructions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1584" y="1801368"/>
            <a:ext cx="360578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Use Blackwell FP8 tensor core tiles via tl.dot on FP8 directly → ~4.5 PFLOPS.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25968" y="1325880"/>
            <a:ext cx="3788664" cy="2148840"/>
          </a:xfrm>
          <a:prstGeom prst="rect">
            <a:avLst/>
          </a:prstGeom>
          <a:solidFill>
            <a:srgbClr val="16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25968" y="1325880"/>
            <a:ext cx="3788664" cy="4572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137392" y="1399032"/>
            <a:ext cx="685800" cy="292608"/>
          </a:xfrm>
          <a:prstGeom prst="rect">
            <a:avLst/>
          </a:prstGeom>
          <a:solidFill>
            <a:srgbClr val="003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137392" y="1417320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76FF03"/>
                </a:solidFill>
              </a:rPr>
              <a:t>1.2–1.5×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7408" y="1417320"/>
            <a:ext cx="27828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6D00"/>
                </a:solidFill>
              </a:rPr>
              <a:t>B200 L2 Cache Pinning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17408" y="1801368"/>
            <a:ext cx="360578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126 MB L2 can hold expert weights for reuse. Pin frequently-used experts via cudaStreamAttrValue L2 policy.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611880"/>
            <a:ext cx="3788664" cy="2148840"/>
          </a:xfrm>
          <a:prstGeom prst="rect">
            <a:avLst/>
          </a:prstGeom>
          <a:solidFill>
            <a:srgbClr val="16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3611880"/>
            <a:ext cx="3788664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85744" y="3685032"/>
            <a:ext cx="685800" cy="292608"/>
          </a:xfrm>
          <a:prstGeom prst="rect">
            <a:avLst/>
          </a:prstGeom>
          <a:solidFill>
            <a:srgbClr val="003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85744" y="3703320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76FF03"/>
                </a:solidFill>
              </a:rPr>
              <a:t>1.2×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3703320"/>
            <a:ext cx="27828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E5FF"/>
                </a:solidFill>
              </a:rPr>
              <a:t>Triton Routing Kernel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4087368"/>
            <a:ext cx="360578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Replace 7 PyTorch ops (sigmoid, view, topk×3, scatter, gather) with 1 tl.program.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00144" y="3611880"/>
            <a:ext cx="3788664" cy="2148840"/>
          </a:xfrm>
          <a:prstGeom prst="rect">
            <a:avLst/>
          </a:prstGeom>
          <a:solidFill>
            <a:srgbClr val="16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00144" y="3611880"/>
            <a:ext cx="3788664" cy="45720"/>
          </a:xfrm>
          <a:prstGeom prst="rect">
            <a:avLst/>
          </a:prstGeom>
          <a:solidFill>
            <a:srgbClr val="76FF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211568" y="3685032"/>
            <a:ext cx="685800" cy="292608"/>
          </a:xfrm>
          <a:prstGeom prst="rect">
            <a:avLst/>
          </a:prstGeom>
          <a:solidFill>
            <a:srgbClr val="003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11568" y="3703320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76FF03"/>
                </a:solidFill>
              </a:rPr>
              <a:t>1.3–1.8×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1584" y="3703320"/>
            <a:ext cx="27828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6FF03"/>
                </a:solidFill>
              </a:rPr>
              <a:t>Warp Specialization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91584" y="4087368"/>
            <a:ext cx="360578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Blackwell feature: dedicate producer warps to HBM→SMEM loads, consumer warps to tensor core compute. Fully overlapped.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25968" y="3611880"/>
            <a:ext cx="3788664" cy="2148840"/>
          </a:xfrm>
          <a:prstGeom prst="rect">
            <a:avLst/>
          </a:prstGeom>
          <a:solidFill>
            <a:srgbClr val="16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125968" y="3611880"/>
            <a:ext cx="3788664" cy="4572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1137392" y="3685032"/>
            <a:ext cx="685800" cy="292608"/>
          </a:xfrm>
          <a:prstGeom prst="rect">
            <a:avLst/>
          </a:prstGeom>
          <a:solidFill>
            <a:srgbClr val="003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137392" y="3703320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76FF03"/>
                </a:solidFill>
              </a:rPr>
              <a:t>1.1–1.3×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17408" y="3703320"/>
            <a:ext cx="27828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6D00"/>
                </a:solidFill>
              </a:rPr>
              <a:t>Fused SwiGLU→GEMM2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17408" y="4087368"/>
            <a:ext cx="360578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Eliminate c_buf write: stream SwiGLU output directly into GEMM2 K-loop. Saves Tk×2048×4 B per expert.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